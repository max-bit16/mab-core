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3"/>
  </p:notesMasterIdLst>
  <p:sldIdLst>
    <p:sldId id="258" r:id="rId2"/>
    <p:sldId id="1473" r:id="rId3"/>
    <p:sldId id="1632" r:id="rId4"/>
    <p:sldId id="1708" r:id="rId5"/>
    <p:sldId id="1649" r:id="rId6"/>
    <p:sldId id="1656" r:id="rId7"/>
    <p:sldId id="1650" r:id="rId8"/>
    <p:sldId id="1651" r:id="rId9"/>
    <p:sldId id="1652" r:id="rId10"/>
    <p:sldId id="1655" r:id="rId11"/>
    <p:sldId id="1684" r:id="rId12"/>
    <p:sldId id="1654" r:id="rId13"/>
    <p:sldId id="1706" r:id="rId14"/>
    <p:sldId id="1657" r:id="rId15"/>
    <p:sldId id="1740" r:id="rId16"/>
    <p:sldId id="1682" r:id="rId17"/>
    <p:sldId id="1683" r:id="rId18"/>
    <p:sldId id="1709" r:id="rId19"/>
    <p:sldId id="1678" r:id="rId20"/>
    <p:sldId id="1712" r:id="rId21"/>
    <p:sldId id="1680" r:id="rId22"/>
    <p:sldId id="1738" r:id="rId23"/>
    <p:sldId id="1715" r:id="rId24"/>
    <p:sldId id="1716" r:id="rId25"/>
    <p:sldId id="1710" r:id="rId26"/>
    <p:sldId id="1711" r:id="rId27"/>
    <p:sldId id="1679" r:id="rId28"/>
    <p:sldId id="1713" r:id="rId29"/>
    <p:sldId id="1734" r:id="rId30"/>
    <p:sldId id="1696" r:id="rId31"/>
    <p:sldId id="1697" r:id="rId32"/>
    <p:sldId id="1718" r:id="rId33"/>
    <p:sldId id="1692" r:id="rId34"/>
    <p:sldId id="1693" r:id="rId35"/>
    <p:sldId id="1694" r:id="rId36"/>
    <p:sldId id="1735" r:id="rId37"/>
    <p:sldId id="1736" r:id="rId38"/>
    <p:sldId id="1737" r:id="rId39"/>
    <p:sldId id="1719" r:id="rId40"/>
    <p:sldId id="1675" r:id="rId41"/>
    <p:sldId id="1676" r:id="rId42"/>
    <p:sldId id="1686" r:id="rId43"/>
    <p:sldId id="1728" r:id="rId44"/>
    <p:sldId id="1688" r:id="rId45"/>
    <p:sldId id="1729" r:id="rId46"/>
    <p:sldId id="1730" r:id="rId47"/>
    <p:sldId id="1731" r:id="rId48"/>
    <p:sldId id="1720" r:id="rId49"/>
    <p:sldId id="1671" r:id="rId50"/>
    <p:sldId id="1700" r:id="rId51"/>
    <p:sldId id="1726" r:id="rId52"/>
    <p:sldId id="1727" r:id="rId53"/>
    <p:sldId id="1701" r:id="rId54"/>
    <p:sldId id="1702" r:id="rId55"/>
    <p:sldId id="1741" r:id="rId56"/>
    <p:sldId id="1742" r:id="rId57"/>
    <p:sldId id="1743" r:id="rId58"/>
    <p:sldId id="1744" r:id="rId59"/>
    <p:sldId id="1748" r:id="rId60"/>
    <p:sldId id="1746" r:id="rId61"/>
    <p:sldId id="1747" r:id="rId62"/>
    <p:sldId id="1721" r:id="rId63"/>
    <p:sldId id="1661" r:id="rId64"/>
    <p:sldId id="1733" r:id="rId65"/>
    <p:sldId id="1662" r:id="rId66"/>
    <p:sldId id="1732" r:id="rId67"/>
    <p:sldId id="1722" r:id="rId68"/>
    <p:sldId id="1749" r:id="rId69"/>
    <p:sldId id="1725" r:id="rId70"/>
    <p:sldId id="1739" r:id="rId71"/>
    <p:sldId id="1639" r:id="rId7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545454"/>
    <a:srgbClr val="21989E"/>
    <a:srgbClr val="CCECFF"/>
    <a:srgbClr val="99CCFF"/>
    <a:srgbClr val="0099FF"/>
    <a:srgbClr val="0066CC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90"/>
  </p:normalViewPr>
  <p:slideViewPr>
    <p:cSldViewPr snapToGrid="0" snapToObjects="1">
      <p:cViewPr varScale="1">
        <p:scale>
          <a:sx n="78" d="100"/>
          <a:sy n="78" d="100"/>
        </p:scale>
        <p:origin x="7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80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5ACA90-9112-9440-9784-B951E6D58B6B}" type="datetimeFigureOut">
              <a:rPr lang="fr-FR" smtClean="0"/>
              <a:t>15/05/2021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8C581-C2F9-0941-ADCA-8EAF6A4E172F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6068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8C581-C2F9-0941-ADCA-8EAF6A4E172F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06664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E8C581-C2F9-0941-ADCA-8EAF6A4E172F}" type="slidenum">
              <a:rPr lang="fr-FR" smtClean="0"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2436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9BAB4C7-C590-48BD-AE6D-B0158D76BB60}"/>
              </a:ext>
            </a:extLst>
          </p:cNvPr>
          <p:cNvSpPr/>
          <p:nvPr userDrawn="1"/>
        </p:nvSpPr>
        <p:spPr>
          <a:xfrm>
            <a:off x="8792" y="1842868"/>
            <a:ext cx="12192000" cy="5015132"/>
          </a:xfrm>
          <a:prstGeom prst="rect">
            <a:avLst/>
          </a:prstGeom>
          <a:solidFill>
            <a:srgbClr val="2198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967286F-A60D-44AF-A4AB-2DB52A2A5A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574" t="29720" r="10100" b="43436"/>
          <a:stretch/>
        </p:blipFill>
        <p:spPr>
          <a:xfrm>
            <a:off x="140677" y="182881"/>
            <a:ext cx="4355933" cy="1278294"/>
          </a:xfrm>
          <a:prstGeom prst="rect">
            <a:avLst/>
          </a:prstGeom>
        </p:spPr>
      </p:pic>
      <p:sp>
        <p:nvSpPr>
          <p:cNvPr id="10" name="Titre 1">
            <a:extLst>
              <a:ext uri="{FF2B5EF4-FFF2-40B4-BE49-F238E27FC236}">
                <a16:creationId xmlns:a16="http://schemas.microsoft.com/office/drawing/2014/main" id="{13262101-CC5B-4BEB-94A7-2326A2489FAB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1747" y="3110711"/>
            <a:ext cx="9363808" cy="893372"/>
          </a:xfrm>
        </p:spPr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chemeClr val="bg1"/>
                </a:solidFill>
                <a:latin typeface="+mn-lt"/>
              </a:rPr>
              <a:t>Etude de marché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2F4187E7-32BF-48B2-8032-F6C1CB50592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814107" y="4432306"/>
            <a:ext cx="6563783" cy="668187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</a:rPr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238702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36F919-9940-4643-BBE3-39661B9106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38" y="123582"/>
            <a:ext cx="11854960" cy="694104"/>
          </a:xfrm>
        </p:spPr>
        <p:txBody>
          <a:bodyPr/>
          <a:lstStyle>
            <a:lvl1pPr>
              <a:defRPr sz="3600">
                <a:solidFill>
                  <a:srgbClr val="545454"/>
                </a:solidFill>
              </a:defRPr>
            </a:lvl1pPr>
          </a:lstStyle>
          <a:p>
            <a:r>
              <a:rPr lang="fr-FR" b="1" dirty="0">
                <a:solidFill>
                  <a:srgbClr val="545454"/>
                </a:solidFill>
              </a:rPr>
              <a:t>Titre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60A1DD-A1FB-9F47-92E0-8EF96576D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054" y="1208061"/>
            <a:ext cx="11854960" cy="5148289"/>
          </a:xfrm>
        </p:spPr>
        <p:txBody>
          <a:bodyPr/>
          <a:lstStyle>
            <a:lvl1pPr>
              <a:defRPr sz="2400" b="1">
                <a:solidFill>
                  <a:srgbClr val="545454"/>
                </a:solidFill>
                <a:latin typeface="+mj-lt"/>
              </a:defRPr>
            </a:lvl1pPr>
            <a:lvl2pPr>
              <a:defRPr sz="2000">
                <a:solidFill>
                  <a:srgbClr val="545454"/>
                </a:solidFill>
                <a:latin typeface="+mj-lt"/>
              </a:defRPr>
            </a:lvl2pPr>
            <a:lvl3pPr>
              <a:defRPr sz="1800">
                <a:solidFill>
                  <a:srgbClr val="545454"/>
                </a:solidFill>
                <a:latin typeface="+mj-lt"/>
              </a:defRPr>
            </a:lvl3pPr>
            <a:lvl4pPr>
              <a:defRPr>
                <a:solidFill>
                  <a:srgbClr val="545454"/>
                </a:solidFill>
                <a:latin typeface="+mj-lt"/>
              </a:defRPr>
            </a:lvl4pPr>
            <a:lvl5pPr>
              <a:defRPr>
                <a:solidFill>
                  <a:srgbClr val="545454"/>
                </a:solidFill>
                <a:latin typeface="+mj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E76B32-43D3-504E-ACA2-988B496ED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9999" y="6435478"/>
            <a:ext cx="592015" cy="365125"/>
          </a:xfrm>
        </p:spPr>
        <p:txBody>
          <a:bodyPr/>
          <a:lstStyle/>
          <a:p>
            <a:pPr algn="ctr"/>
            <a:fld id="{D0D0662E-DD8F-6B4B-B989-FE9D2C9FAAE7}" type="slidenum">
              <a:rPr lang="fr-FR" smtClean="0"/>
              <a:pPr algn="ctr"/>
              <a:t>‹N°›</a:t>
            </a:fld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D01F20-2F6C-4FCC-AE39-94373B49F24E}"/>
              </a:ext>
            </a:extLst>
          </p:cNvPr>
          <p:cNvSpPr/>
          <p:nvPr userDrawn="1"/>
        </p:nvSpPr>
        <p:spPr>
          <a:xfrm>
            <a:off x="-1" y="900332"/>
            <a:ext cx="12192000" cy="225083"/>
          </a:xfrm>
          <a:prstGeom prst="rect">
            <a:avLst/>
          </a:prstGeom>
          <a:solidFill>
            <a:srgbClr val="2198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EDD624-4327-4ED2-9A89-68E84EABDBFC}"/>
              </a:ext>
            </a:extLst>
          </p:cNvPr>
          <p:cNvSpPr/>
          <p:nvPr userDrawn="1"/>
        </p:nvSpPr>
        <p:spPr>
          <a:xfrm>
            <a:off x="-2" y="900332"/>
            <a:ext cx="1702191" cy="225083"/>
          </a:xfrm>
          <a:prstGeom prst="rect">
            <a:avLst/>
          </a:prstGeom>
          <a:solidFill>
            <a:srgbClr val="5454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5454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44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812A1A5-06DD-4C8E-BE67-DAF621B8AE0B}"/>
              </a:ext>
            </a:extLst>
          </p:cNvPr>
          <p:cNvSpPr/>
          <p:nvPr userDrawn="1"/>
        </p:nvSpPr>
        <p:spPr>
          <a:xfrm>
            <a:off x="838199" y="1921162"/>
            <a:ext cx="10457873" cy="3408218"/>
          </a:xfrm>
          <a:prstGeom prst="roundRect">
            <a:avLst/>
          </a:prstGeom>
          <a:solidFill>
            <a:srgbClr val="2198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4AF180-B165-D84F-9757-7D64B1EB4A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0744" y="2678906"/>
            <a:ext cx="9672781" cy="1500187"/>
          </a:xfrm>
          <a:solidFill>
            <a:schemeClr val="bg1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>
            <a:normAutofit/>
          </a:bodyPr>
          <a:lstStyle>
            <a:lvl1pPr marL="360363" indent="-360363">
              <a:buNone/>
              <a:defRPr sz="28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44978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4D06D1-206E-7947-9A49-4C2713834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46AB96-7777-424A-8816-2C7928223C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96CE98-FB65-C242-8A98-C182DFA2A5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49BF2CB-1602-4B40-9A17-35B4C6D9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EB074-D076-3145-B862-07449E0F1168}" type="datetime1">
              <a:rPr lang="fr-FR" smtClean="0"/>
              <a:t>15/05/2021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80D7AD6-18CD-934F-9B86-2EAEE8C4B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A8072A-4957-BF45-8693-2AD9A8AC6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662E-DD8F-6B4B-B989-FE9D2C9FAAE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7322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9A084D-9B24-2B49-A456-BD47E00E8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F7B832-C2E2-C84C-8318-5F77EF7B4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3FC672-230E-9A45-96AA-8691B5359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F12C0F6-BCB9-D544-9C99-F4EEF9FE5E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47526EC-095C-4B49-A16F-0DAF33C714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69B2722-B300-584C-8437-B37019324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EFB00-C833-584F-B80A-4AA1ED380ADE}" type="datetime1">
              <a:rPr lang="fr-FR" smtClean="0"/>
              <a:t>15/05/2021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D58C7F4-E872-3549-8D38-D2A009A1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BF335E3-77DD-1A45-B7A9-17CDF6044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662E-DD8F-6B4B-B989-FE9D2C9FAAE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456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8C4196-6437-364D-8867-F24C8B674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C580AF1-E745-2C45-9F33-8382A70A9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C92EE-0F52-9244-A75F-44BDC62411EB}" type="datetime1">
              <a:rPr lang="fr-FR" smtClean="0"/>
              <a:t>15/05/2021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95839C9-7EE9-A540-95AD-2E69C28C2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F989A45-53E3-344F-85F8-F8F5E7314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662E-DD8F-6B4B-B989-FE9D2C9FAAE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9977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BDC2DFC-0827-3142-BEB7-FBDF48A2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AAE9A-2460-A345-ACA2-07D4ACC8BC96}" type="datetime1">
              <a:rPr lang="fr-FR" smtClean="0"/>
              <a:t>15/05/2021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E250657-5BEA-DA4E-BA5E-A8F4551AE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2533D3-FF98-DF47-B1B2-393B6FDBA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662E-DD8F-6B4B-B989-FE9D2C9FAAE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0601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B70AAD-8BB2-0F4E-89F8-576CBEE47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BEF974-5580-C04B-9366-47198F7DF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7E926D6-43C1-F64F-955D-E5B55DAFC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9B7781A-8B9B-E54A-A52A-3A33C6072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333EE-C514-C949-ABF3-680F7950789B}" type="datetime1">
              <a:rPr lang="fr-FR" smtClean="0"/>
              <a:t>15/05/2021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C984E7F-5ACC-3B4F-98E8-56CCB583C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77B439A-BF1D-7C49-AFD9-97FC7DD0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662E-DD8F-6B4B-B989-FE9D2C9FAAE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4261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9CCDC7-3906-5544-A992-DF91785C8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6DA4FFB8-7D13-BE4B-946F-FCC942BFB4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B2021DF-7438-C040-8B8F-536E2C77D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F6ACFF-019F-504F-99C0-FFC00925A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3988B-CA64-D746-BA79-94DB0764E4CC}" type="datetime1">
              <a:rPr lang="fr-FR" smtClean="0"/>
              <a:t>15/05/2021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47A62B6-A280-DB47-ADF6-2BFE3555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0250688-31D0-724E-B509-FEA8143D9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662E-DD8F-6B4B-B989-FE9D2C9FAAE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05150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EFDAFF-765D-E64C-8ADD-4FF9BA3C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29D9975-2E7B-0E45-ABAB-A574E4D5D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CE8447-BD5E-8B46-87F3-CF5753EEB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B97AD-D920-9C47-B79D-602E3B3008B0}" type="datetime1">
              <a:rPr lang="fr-FR" smtClean="0"/>
              <a:t>15/05/2021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CEC699-DF21-204D-A005-40B8B4969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2E3203-5EF5-EB46-9319-6D3A57486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662E-DD8F-6B4B-B989-FE9D2C9FAAE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97845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2506FCE-6AAD-FA4A-9922-CDCE16FD2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D6671CF-A498-E144-AEA4-CFDDB8021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50778FE-3F8C-A541-871E-662873B2F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C9A06-F3DC-B44B-9F21-972223C71FD0}" type="datetime1">
              <a:rPr lang="fr-FR" smtClean="0"/>
              <a:t>15/05/2021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80EA9FB-0C87-9F46-9464-874E15146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4A03E40-CB0F-0140-AC7F-585D8E9EA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662E-DD8F-6B4B-B989-FE9D2C9FAAE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6618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9EE9328-5BA8-144B-ADFB-C565F241C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897C58-52F7-C043-8403-30854411A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C2765E6-282C-2F4A-B568-CBD0CFDFBA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F24DE3-688D-4542-B189-415E3B8CB42F}" type="datetime1">
              <a:rPr lang="fr-FR" smtClean="0"/>
              <a:t>15/05/2021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CADF13-4F5C-834C-B1B8-466D3F218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2565328-087D-E347-BEA0-087E4E46E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0662E-DD8F-6B4B-B989-FE9D2C9FAAE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2563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emf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image" Target="../media/image59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e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image" Target="../media/image66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image" Target="../media/image68.e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image" Target="../media/image79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e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emf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e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emf"/><Relationship Id="rId2" Type="http://schemas.openxmlformats.org/officeDocument/2006/relationships/image" Target="../media/image90.emf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emf"/><Relationship Id="rId2" Type="http://schemas.openxmlformats.org/officeDocument/2006/relationships/image" Target="../media/image92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e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emf"/><Relationship Id="rId2" Type="http://schemas.openxmlformats.org/officeDocument/2006/relationships/image" Target="../media/image9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e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e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E197F7-9A91-7040-81B2-A8880ECE233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856792" y="2486457"/>
            <a:ext cx="8854751" cy="893372"/>
          </a:xfrm>
        </p:spPr>
        <p:txBody>
          <a:bodyPr>
            <a:normAutofit/>
          </a:bodyPr>
          <a:lstStyle/>
          <a:p>
            <a:pPr algn="ctr"/>
            <a:r>
              <a:rPr lang="fr-FR" sz="3600" dirty="0">
                <a:solidFill>
                  <a:schemeClr val="bg1"/>
                </a:solidFill>
                <a:latin typeface="+mn-lt"/>
              </a:rPr>
              <a:t>Etude de marché annuel : année 2020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394C2BB-CBF2-6346-821A-2D5AB7AF0F8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814107" y="3678730"/>
            <a:ext cx="6563783" cy="6681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</a:rPr>
              <a:t>Rapport provisoire V6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6EE8641-79D4-4916-98BE-A9F851F18D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574" t="29720" r="10100" b="43436"/>
          <a:stretch/>
        </p:blipFill>
        <p:spPr>
          <a:xfrm>
            <a:off x="140677" y="182881"/>
            <a:ext cx="4355933" cy="127829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8C09D29C-7B62-4B21-B80E-7565BD65770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5471" y="94612"/>
            <a:ext cx="3112927" cy="179304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1D8E2B85-4838-4E1C-9007-C36BE939BB52}"/>
              </a:ext>
            </a:extLst>
          </p:cNvPr>
          <p:cNvSpPr txBox="1"/>
          <p:nvPr/>
        </p:nvSpPr>
        <p:spPr>
          <a:xfrm>
            <a:off x="10226351" y="6383158"/>
            <a:ext cx="1377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</a:rPr>
              <a:t>15 mai 2021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EE87EF6-D7D5-42C3-8EAD-3380295143D8}"/>
              </a:ext>
            </a:extLst>
          </p:cNvPr>
          <p:cNvSpPr txBox="1"/>
          <p:nvPr/>
        </p:nvSpPr>
        <p:spPr>
          <a:xfrm>
            <a:off x="8792" y="5813345"/>
            <a:ext cx="24794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Jean-Marie THIEBAUT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+33 (0)6 72 07 43 12</a:t>
            </a:r>
          </a:p>
          <a:p>
            <a:pPr algn="ctr"/>
            <a:r>
              <a:rPr lang="fr-FR" sz="1600" b="1" dirty="0">
                <a:solidFill>
                  <a:schemeClr val="bg1"/>
                </a:solidFill>
              </a:rPr>
              <a:t>jmt.marketing@mailo.com</a:t>
            </a:r>
          </a:p>
          <a:p>
            <a:pPr algn="ctr"/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AE78A32-2729-4D6E-A94F-43D8C506890C}"/>
              </a:ext>
            </a:extLst>
          </p:cNvPr>
          <p:cNvSpPr/>
          <p:nvPr/>
        </p:nvSpPr>
        <p:spPr>
          <a:xfrm rot="-900000">
            <a:off x="8850244" y="4955010"/>
            <a:ext cx="2124012" cy="80022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Ne pas diffuser</a:t>
            </a:r>
          </a:p>
        </p:txBody>
      </p:sp>
    </p:spTree>
    <p:extLst>
      <p:ext uri="{BB962C8B-B14F-4D97-AF65-F5344CB8AC3E}">
        <p14:creationId xmlns:p14="http://schemas.microsoft.com/office/powerpoint/2010/main" val="80763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25963" y="149290"/>
            <a:ext cx="8153400" cy="762000"/>
          </a:xfrm>
        </p:spPr>
        <p:txBody>
          <a:bodyPr/>
          <a:lstStyle/>
          <a:p>
            <a:r>
              <a:rPr lang="fr-FR" b="1" dirty="0"/>
              <a:t>Sommaire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307910" y="1277317"/>
            <a:ext cx="11635274" cy="4896544"/>
          </a:xfrm>
        </p:spPr>
        <p:txBody>
          <a:bodyPr>
            <a:normAutofit lnSpcReduction="10000"/>
          </a:bodyPr>
          <a:lstStyle/>
          <a:p>
            <a:pPr marL="857250" lvl="1" indent="-285750" defTabSz="1116013">
              <a:spcBef>
                <a:spcPts val="0"/>
              </a:spcBef>
              <a:spcAft>
                <a:spcPct val="0"/>
              </a:spcAft>
              <a:buNone/>
              <a:tabLst>
                <a:tab pos="1333500" algn="l"/>
                <a:tab pos="9959975" algn="r"/>
              </a:tabLst>
            </a:pPr>
            <a:r>
              <a:rPr lang="fr-FR" b="1" dirty="0"/>
              <a:t>Introduction	p. 3 </a:t>
            </a:r>
          </a:p>
          <a:p>
            <a:pPr marL="1028700" lvl="1" indent="-457200" defTabSz="1116013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AutoNum type="arabicPeriod"/>
              <a:tabLst>
                <a:tab pos="1333500" algn="l"/>
                <a:tab pos="9959975" algn="r"/>
              </a:tabLst>
            </a:pPr>
            <a:r>
              <a:rPr lang="fr-FR" b="1" dirty="0"/>
              <a:t>Le marché des pièces céramiques en 2020	p. 7</a:t>
            </a:r>
          </a:p>
          <a:p>
            <a:pPr marL="1028700" lvl="1" indent="-457200" defTabSz="1116013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AutoNum type="arabicPeriod"/>
              <a:tabLst>
                <a:tab pos="1333500" algn="l"/>
                <a:tab pos="9959975" algn="r"/>
              </a:tabLst>
            </a:pPr>
            <a:r>
              <a:rPr lang="fr-FR" b="1" dirty="0"/>
              <a:t>Le marché des receveurs de douche en 2020	p.18</a:t>
            </a:r>
          </a:p>
          <a:p>
            <a:pPr marL="1028700" lvl="1" indent="-457200" defTabSz="1116013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AutoNum type="arabicPeriod"/>
              <a:tabLst>
                <a:tab pos="1333500" algn="l"/>
                <a:tab pos="9959975" algn="r"/>
              </a:tabLst>
            </a:pPr>
            <a:r>
              <a:rPr lang="fr-FR" b="1" dirty="0"/>
              <a:t>Le marché des baignoires nues en 2020	p.25</a:t>
            </a:r>
          </a:p>
          <a:p>
            <a:pPr marL="1028700" lvl="1" indent="-457200" defTabSz="1116013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AutoNum type="arabicPeriod"/>
              <a:tabLst>
                <a:tab pos="1333500" algn="l"/>
                <a:tab pos="9959975" algn="r"/>
              </a:tabLst>
            </a:pPr>
            <a:r>
              <a:rPr lang="fr-FR" b="1" dirty="0"/>
              <a:t>Le marché des baignoires balnéo en 2020	p.32</a:t>
            </a:r>
          </a:p>
          <a:p>
            <a:pPr marL="1028700" lvl="1" indent="-457200" defTabSz="1116013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AutoNum type="arabicPeriod"/>
              <a:tabLst>
                <a:tab pos="1333500" algn="l"/>
                <a:tab pos="9959975" algn="r"/>
              </a:tabLst>
            </a:pPr>
            <a:r>
              <a:rPr lang="fr-FR" b="1" dirty="0"/>
              <a:t>Le marché de la robinetterie sanitaire en 2020	p.39</a:t>
            </a:r>
          </a:p>
          <a:p>
            <a:pPr marL="1028700" lvl="1" indent="-457200" defTabSz="1116013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AutoNum type="arabicPeriod"/>
              <a:tabLst>
                <a:tab pos="1333500" algn="l"/>
                <a:tab pos="9959975" algn="r"/>
              </a:tabLst>
            </a:pPr>
            <a:r>
              <a:rPr lang="fr-FR" b="1" dirty="0"/>
              <a:t>Le marché des parois de douches et pare-bains en 2020	p.48</a:t>
            </a:r>
          </a:p>
          <a:p>
            <a:pPr marL="1028700" lvl="1" indent="-457200" defTabSz="1116013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AutoNum type="arabicPeriod"/>
              <a:tabLst>
                <a:tab pos="1333500" algn="l"/>
                <a:tab pos="9959975" algn="r"/>
              </a:tabLst>
            </a:pPr>
            <a:r>
              <a:rPr lang="fr-FR" b="1" dirty="0"/>
              <a:t>Le marché des cabines de douches 	p.55</a:t>
            </a:r>
          </a:p>
          <a:p>
            <a:pPr marL="1028700" lvl="1" indent="-457200" defTabSz="1116013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AutoNum type="arabicPeriod"/>
              <a:tabLst>
                <a:tab pos="1333500" algn="l"/>
                <a:tab pos="9959975" algn="r"/>
              </a:tabLst>
            </a:pPr>
            <a:r>
              <a:rPr lang="fr-FR" b="1" dirty="0"/>
              <a:t>Le marché des meubles de salle de bains	p.60</a:t>
            </a:r>
          </a:p>
          <a:p>
            <a:pPr marL="1028700" lvl="1" indent="-457200" defTabSz="1116013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AutoNum type="arabicPeriod"/>
              <a:tabLst>
                <a:tab pos="1333500" algn="l"/>
                <a:tab pos="9959975" algn="r"/>
              </a:tabLst>
            </a:pPr>
            <a:r>
              <a:rPr lang="fr-FR" b="1" dirty="0"/>
              <a:t>Tableaux de synthèse	p.67</a:t>
            </a:r>
          </a:p>
          <a:p>
            <a:pPr marL="1028700" lvl="1" indent="-457200" defTabSz="1116013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AutoNum type="arabicPeriod"/>
              <a:tabLst>
                <a:tab pos="1333500" algn="l"/>
                <a:tab pos="9959975" algn="r"/>
              </a:tabLst>
            </a:pPr>
            <a:r>
              <a:rPr lang="fr-FR" b="1" dirty="0"/>
              <a:t>Annexes	p.70</a:t>
            </a:r>
          </a:p>
          <a:p>
            <a:pPr marL="1028700" lvl="1" indent="-45720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SzPct val="100000"/>
              <a:buAutoNum type="arabicPeriod"/>
              <a:tabLst>
                <a:tab pos="1333500" algn="l"/>
                <a:tab pos="8191500" algn="r"/>
              </a:tabLst>
            </a:pPr>
            <a:endParaRPr lang="fr-FR" b="1" dirty="0"/>
          </a:p>
          <a:p>
            <a:pPr marL="1028700" lvl="1" indent="-45720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AutoNum type="arabicPeriod"/>
              <a:tabLst>
                <a:tab pos="1333500" algn="l"/>
                <a:tab pos="8191500" algn="r"/>
              </a:tabLst>
            </a:pPr>
            <a:endParaRPr lang="fr-FR" sz="2400" b="1" dirty="0"/>
          </a:p>
          <a:p>
            <a:pPr marL="857250" lvl="1" indent="-28575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None/>
              <a:tabLst>
                <a:tab pos="1333500" algn="l"/>
                <a:tab pos="8191500" algn="r"/>
              </a:tabLst>
            </a:pPr>
            <a:endParaRPr lang="fr-FR" sz="2400" b="1" dirty="0"/>
          </a:p>
          <a:p>
            <a:pPr marL="857250" lvl="1" indent="-28575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None/>
              <a:tabLst>
                <a:tab pos="1333500" algn="l"/>
                <a:tab pos="8191500" algn="r"/>
              </a:tabLst>
            </a:pP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577D85-8FF0-4BBA-B537-44ABFC0025A1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855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èche droite 8"/>
          <p:cNvSpPr/>
          <p:nvPr/>
        </p:nvSpPr>
        <p:spPr>
          <a:xfrm>
            <a:off x="1199456" y="2492896"/>
            <a:ext cx="9849544" cy="272400"/>
          </a:xfrm>
          <a:prstGeom prst="rightArrow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Méthodologie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4 étapes pour cette étude 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3</a:t>
            </a:fld>
            <a:endParaRPr lang="fr-FR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1343472" y="1916832"/>
            <a:ext cx="2160000" cy="144016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RECUEIL</a:t>
            </a:r>
            <a:endParaRPr lang="fr-FR" b="1" dirty="0">
              <a:solidFill>
                <a:schemeClr val="bg1"/>
              </a:solidFill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3791744" y="1925026"/>
            <a:ext cx="2160240" cy="1440160"/>
          </a:xfrm>
          <a:prstGeom prst="roundRect">
            <a:avLst/>
          </a:prstGeom>
          <a:solidFill>
            <a:srgbClr val="00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bg1"/>
                </a:solidFill>
              </a:rPr>
              <a:t>TRAITEMENT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7" name="Rectangle à coins arrondis 6"/>
          <p:cNvSpPr/>
          <p:nvPr/>
        </p:nvSpPr>
        <p:spPr>
          <a:xfrm>
            <a:off x="6312024" y="1933220"/>
            <a:ext cx="2160240" cy="1440160"/>
          </a:xfrm>
          <a:prstGeom prst="roundRect">
            <a:avLst/>
          </a:prstGeom>
          <a:solidFill>
            <a:srgbClr val="99C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</a:rPr>
              <a:t>ESTIMATION</a:t>
            </a:r>
          </a:p>
        </p:txBody>
      </p:sp>
      <p:sp>
        <p:nvSpPr>
          <p:cNvPr id="8" name="Rectangle à coins arrondis 7"/>
          <p:cNvSpPr/>
          <p:nvPr/>
        </p:nvSpPr>
        <p:spPr>
          <a:xfrm>
            <a:off x="8688288" y="1933220"/>
            <a:ext cx="2160240" cy="1440160"/>
          </a:xfrm>
          <a:prstGeom prst="roundRect">
            <a:avLst/>
          </a:prstGeom>
          <a:solidFill>
            <a:srgbClr val="CCEC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</a:rPr>
              <a:t>RESTITUTION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333167" y="3501008"/>
            <a:ext cx="2016224" cy="1785104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176213" indent="-176213">
              <a:buFont typeface="Wingdings" panose="05000000000000000000" pitchFamily="2" charset="2"/>
              <a:buChar char="§"/>
            </a:pPr>
            <a:r>
              <a:rPr lang="fr-FR" sz="1100" b="1" dirty="0">
                <a:solidFill>
                  <a:schemeClr val="tx2">
                    <a:lumMod val="75000"/>
                  </a:schemeClr>
                </a:solidFill>
              </a:rPr>
              <a:t>Grille de collecte de statistiques (industriels/ distributeurs)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fr-FR" sz="1100" b="1" dirty="0">
                <a:solidFill>
                  <a:schemeClr val="tx2">
                    <a:lumMod val="75000"/>
                  </a:schemeClr>
                </a:solidFill>
              </a:rPr>
              <a:t>Engagements de confidentialité 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fr-FR" sz="1100" b="1" dirty="0">
                <a:solidFill>
                  <a:schemeClr val="tx2">
                    <a:lumMod val="75000"/>
                  </a:schemeClr>
                </a:solidFill>
              </a:rPr>
              <a:t>Fichiers de contacts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fr-FR" sz="1100" b="1" dirty="0">
                <a:solidFill>
                  <a:schemeClr val="tx2">
                    <a:lumMod val="75000"/>
                  </a:schemeClr>
                </a:solidFill>
              </a:rPr>
              <a:t>Appels téléphoniques et mail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fr-FR" sz="1100" b="1" dirty="0">
                <a:solidFill>
                  <a:schemeClr val="tx2">
                    <a:lumMod val="75000"/>
                  </a:schemeClr>
                </a:solidFill>
              </a:rPr>
              <a:t>Relances par mail et appels téléphoniques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3863752" y="3501008"/>
            <a:ext cx="2016224" cy="1785104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176213" indent="-176213">
              <a:buFont typeface="Wingdings" panose="05000000000000000000" pitchFamily="2" charset="2"/>
              <a:buChar char="§"/>
            </a:pPr>
            <a:r>
              <a:rPr lang="fr-FR" sz="1100" b="1" dirty="0">
                <a:solidFill>
                  <a:schemeClr val="tx2">
                    <a:lumMod val="75000"/>
                  </a:schemeClr>
                </a:solidFill>
              </a:rPr>
              <a:t>Saisie et contrôle des statistiques reçues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fr-FR" sz="1100" b="1" dirty="0">
                <a:solidFill>
                  <a:schemeClr val="tx2">
                    <a:lumMod val="75000"/>
                  </a:schemeClr>
                </a:solidFill>
              </a:rPr>
              <a:t>Traitements des données reçues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fr-FR" sz="1100" b="1" dirty="0">
                <a:solidFill>
                  <a:schemeClr val="tx2">
                    <a:lumMod val="75000"/>
                  </a:schemeClr>
                </a:solidFill>
              </a:rPr>
              <a:t>Intégration des données 2019 et passerelles de passage avec celles de 2020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fr-FR" sz="1100" b="1" dirty="0">
                <a:solidFill>
                  <a:schemeClr val="tx2">
                    <a:lumMod val="75000"/>
                  </a:schemeClr>
                </a:solidFill>
              </a:rPr>
              <a:t>Analyse des variations 2020/2019 sur les données reçues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6384032" y="3501008"/>
            <a:ext cx="2016224" cy="1446550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176213" indent="-176213">
              <a:buFont typeface="Wingdings" panose="05000000000000000000" pitchFamily="2" charset="2"/>
              <a:buChar char="§"/>
            </a:pPr>
            <a:r>
              <a:rPr lang="fr-FR" sz="1100" b="1" dirty="0">
                <a:solidFill>
                  <a:schemeClr val="tx2">
                    <a:lumMod val="75000"/>
                  </a:schemeClr>
                </a:solidFill>
              </a:rPr>
              <a:t>Estimation des importations directes par les distributeurs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fr-FR" sz="1100" b="1" dirty="0">
                <a:solidFill>
                  <a:schemeClr val="tx2">
                    <a:lumMod val="75000"/>
                  </a:schemeClr>
                </a:solidFill>
              </a:rPr>
              <a:t>Estimation de la part des industriels non répondants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fr-FR" sz="1100" b="1" dirty="0">
                <a:solidFill>
                  <a:schemeClr val="tx2">
                    <a:lumMod val="75000"/>
                  </a:schemeClr>
                </a:solidFill>
              </a:rPr>
              <a:t>Estimation globale des marchés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fr-FR" sz="1100" b="1" dirty="0">
                <a:solidFill>
                  <a:schemeClr val="tx2">
                    <a:lumMod val="75000"/>
                  </a:schemeClr>
                </a:solidFill>
              </a:rPr>
              <a:t>Rapport de résultats</a:t>
            </a:r>
          </a:p>
        </p:txBody>
      </p:sp>
      <p:sp>
        <p:nvSpPr>
          <p:cNvPr id="13" name="ZoneTexte 12"/>
          <p:cNvSpPr txBox="1"/>
          <p:nvPr/>
        </p:nvSpPr>
        <p:spPr>
          <a:xfrm>
            <a:off x="8796300" y="3501008"/>
            <a:ext cx="2016224" cy="1785104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fr-FR" sz="1100" b="1" dirty="0">
                <a:solidFill>
                  <a:schemeClr val="tx2">
                    <a:lumMod val="75000"/>
                  </a:schemeClr>
                </a:solidFill>
              </a:rPr>
              <a:t>Version 1 du rapport 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fr-FR" sz="1100" b="1" dirty="0">
                <a:solidFill>
                  <a:schemeClr val="tx2">
                    <a:lumMod val="75000"/>
                  </a:schemeClr>
                </a:solidFill>
              </a:rPr>
              <a:t>Aménagement du rapport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fr-FR" sz="1100" b="1" dirty="0"/>
              <a:t>Versions aménagées du rapport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fr-FR" sz="1100" b="1" dirty="0">
                <a:solidFill>
                  <a:schemeClr val="accent1"/>
                </a:solidFill>
              </a:rPr>
              <a:t>Synthèse de résultats pour diffusion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fr-FR" sz="1100" b="1" dirty="0">
                <a:solidFill>
                  <a:schemeClr val="accent1"/>
                </a:solidFill>
              </a:rPr>
              <a:t>Synthèse des résultats pour les participants à l’étude</a:t>
            </a:r>
          </a:p>
          <a:p>
            <a:pPr marL="176213" indent="-176213">
              <a:buFont typeface="Wingdings" panose="05000000000000000000" pitchFamily="2" charset="2"/>
              <a:buChar char="§"/>
            </a:pPr>
            <a:r>
              <a:rPr lang="fr-FR" sz="1100" b="1" dirty="0">
                <a:solidFill>
                  <a:schemeClr val="accent1"/>
                </a:solidFill>
              </a:rPr>
              <a:t>Envoi des synthèses aux participants</a:t>
            </a:r>
          </a:p>
        </p:txBody>
      </p:sp>
      <p:sp>
        <p:nvSpPr>
          <p:cNvPr id="14" name="Accolade fermante 13">
            <a:extLst>
              <a:ext uri="{FF2B5EF4-FFF2-40B4-BE49-F238E27FC236}">
                <a16:creationId xmlns:a16="http://schemas.microsoft.com/office/drawing/2014/main" id="{7FF26BA2-DD00-46DE-A898-6EFACD2AC7DF}"/>
              </a:ext>
            </a:extLst>
          </p:cNvPr>
          <p:cNvSpPr/>
          <p:nvPr/>
        </p:nvSpPr>
        <p:spPr>
          <a:xfrm>
            <a:off x="10933471" y="4279161"/>
            <a:ext cx="275097" cy="1006951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1FE92D49-4F0A-4A08-BF47-30F1EBF13F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4407" y="4505472"/>
            <a:ext cx="962375" cy="55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465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8CF21FE-EB9C-4521-803C-32CAE6825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r>
              <a:rPr lang="fr-FR" sz="3200" dirty="0"/>
              <a:t>1-Le marché des pièces céramiques en 2020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33359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0338" y="123582"/>
            <a:ext cx="11108939" cy="694104"/>
          </a:xfrm>
        </p:spPr>
        <p:txBody>
          <a:bodyPr/>
          <a:lstStyle/>
          <a:p>
            <a:r>
              <a:rPr lang="fr-FR" b="1" dirty="0"/>
              <a:t>Le marché des pièces céramiques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45982" y="1238820"/>
            <a:ext cx="9361040" cy="504056"/>
          </a:xfrm>
        </p:spPr>
        <p:txBody>
          <a:bodyPr/>
          <a:lstStyle/>
          <a:p>
            <a:r>
              <a:rPr lang="fr-FR" dirty="0"/>
              <a:t>Ensemble de la famille de produits</a:t>
            </a:r>
          </a:p>
        </p:txBody>
      </p:sp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0AA1C5EE-9B11-4403-A39A-991311267FE5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FFE8515-C3FD-41F7-B5B3-8C32A3403327}"/>
              </a:ext>
            </a:extLst>
          </p:cNvPr>
          <p:cNvSpPr txBox="1"/>
          <p:nvPr/>
        </p:nvSpPr>
        <p:spPr>
          <a:xfrm>
            <a:off x="1142627" y="1617672"/>
            <a:ext cx="3781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i="1" dirty="0"/>
              <a:t>* Avec les receveurs céramiques</a:t>
            </a:r>
            <a:endParaRPr lang="en-US" sz="1600" i="1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65BB060-A7DF-4BBE-8B3D-8EF77070DED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42627" y="1617672"/>
            <a:ext cx="9402762" cy="86836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D1BCEC1-6EBC-4A35-9175-9763487130E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171825" y="2576513"/>
            <a:ext cx="6659563" cy="3429000"/>
          </a:xfrm>
          <a:prstGeom prst="rect">
            <a:avLst/>
          </a:prstGeom>
        </p:spPr>
      </p:pic>
      <p:sp>
        <p:nvSpPr>
          <p:cNvPr id="12" name="Flèche : pentagone 11">
            <a:extLst>
              <a:ext uri="{FF2B5EF4-FFF2-40B4-BE49-F238E27FC236}">
                <a16:creationId xmlns:a16="http://schemas.microsoft.com/office/drawing/2014/main" id="{F2EC65AE-D6DE-4E0B-846E-14C1E05EAADA}"/>
              </a:ext>
            </a:extLst>
          </p:cNvPr>
          <p:cNvSpPr/>
          <p:nvPr/>
        </p:nvSpPr>
        <p:spPr>
          <a:xfrm>
            <a:off x="211028" y="3384651"/>
            <a:ext cx="2408904" cy="177254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Évolution de la variation annuelle par rapport à l’année précédente sur 4 ans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186954C-AB96-4A62-8BC0-29FE747607C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163022" y="5968703"/>
            <a:ext cx="9144000" cy="83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812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Le marché des pièces céramiques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Lavabos, vasques, plans et lave-mains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796AA854-61C0-442B-B5A8-9FE64A9A1C3E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97E820F-2AF3-41EF-8523-5DD9BF6613C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21787" y="1543492"/>
            <a:ext cx="9402762" cy="24765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3CCF29C5-EFE6-457B-9F7C-361FF7A4475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702182" y="4522345"/>
            <a:ext cx="6294437" cy="158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4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Accessoires des lavabos : colonnes et cache-siphons</a:t>
            </a:r>
          </a:p>
        </p:txBody>
      </p: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8799B8E1-DF2E-49FC-98F2-682F1547F824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21972473-2F50-4BA4-A7AD-5823E0D3B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Le marché des pièces céramiques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825EA79-0B53-4827-BD5B-258886C488B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3193" y="1964096"/>
            <a:ext cx="11014435" cy="190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044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Le marché des pièces céramiques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>
              <a:solidFill>
                <a:schemeClr val="accent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Bidets</a:t>
            </a:r>
          </a:p>
        </p:txBody>
      </p:sp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CA28C7B1-BBA8-4713-AD47-F8A951F1692D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FF034623-7DC6-46E7-B9D6-5FE850E271A1}"/>
              </a:ext>
            </a:extLst>
          </p:cNvPr>
          <p:cNvSpPr txBox="1">
            <a:spLocks/>
          </p:cNvSpPr>
          <p:nvPr/>
        </p:nvSpPr>
        <p:spPr>
          <a:xfrm>
            <a:off x="1317298" y="3938018"/>
            <a:ext cx="936104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Receveurs de douche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C6F5A27-1AFE-4D00-B1EC-DF84B8B502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51111" y="1605943"/>
            <a:ext cx="10514082" cy="182305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40EB502-C6D4-49E3-88E9-A285A5D69AA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51111" y="4650914"/>
            <a:ext cx="10514082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33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Le marché des pièces céramiques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>
              <a:solidFill>
                <a:schemeClr val="accent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Packs WC, cuvettes et réservoirs</a:t>
            </a:r>
          </a:p>
        </p:txBody>
      </p: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1676778F-4519-4D02-AF55-64AEF6EB4EE3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60244F2-4149-4E1A-BD68-BF4BD9BF4EF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33297" y="1848721"/>
            <a:ext cx="9715038" cy="4054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595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Le marché des pièces céramiques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>
              <a:solidFill>
                <a:schemeClr val="accent6"/>
              </a:solidFill>
            </a:endParaRPr>
          </a:p>
        </p:txBody>
      </p:sp>
      <p:grpSp>
        <p:nvGrpSpPr>
          <p:cNvPr id="8" name="Groupe 7"/>
          <p:cNvGrpSpPr/>
          <p:nvPr/>
        </p:nvGrpSpPr>
        <p:grpSpPr>
          <a:xfrm>
            <a:off x="5675902" y="1956444"/>
            <a:ext cx="1068171" cy="842026"/>
            <a:chOff x="4376936" y="1722878"/>
            <a:chExt cx="1068171" cy="842026"/>
          </a:xfrm>
        </p:grpSpPr>
        <p:sp>
          <p:nvSpPr>
            <p:cNvPr id="9" name="Rectangle 8"/>
            <p:cNvSpPr/>
            <p:nvPr/>
          </p:nvSpPr>
          <p:spPr>
            <a:xfrm>
              <a:off x="4376936" y="1751926"/>
              <a:ext cx="1068171" cy="8129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10" name="Image 9" descr="SELLES Pack W.C. au sol JAZZ - [ApointChauff]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48944" y="1722878"/>
              <a:ext cx="842026" cy="842026"/>
            </a:xfrm>
            <a:prstGeom prst="rect">
              <a:avLst/>
            </a:prstGeom>
          </p:spPr>
        </p:pic>
      </p:grpSp>
      <p:sp>
        <p:nvSpPr>
          <p:cNvPr id="11" name="Rectangle à coins arrondis 10"/>
          <p:cNvSpPr/>
          <p:nvPr/>
        </p:nvSpPr>
        <p:spPr>
          <a:xfrm>
            <a:off x="3362468" y="1983306"/>
            <a:ext cx="2301484" cy="792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accent1"/>
                </a:solidFill>
              </a:rPr>
              <a:t>Packs et cuvettes sur pied</a:t>
            </a:r>
          </a:p>
        </p:txBody>
      </p:sp>
      <p:sp>
        <p:nvSpPr>
          <p:cNvPr id="12" name="Rectangle à coins arrondis 11"/>
          <p:cNvSpPr/>
          <p:nvPr/>
        </p:nvSpPr>
        <p:spPr>
          <a:xfrm>
            <a:off x="7280827" y="1956444"/>
            <a:ext cx="2304256" cy="81516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chemeClr val="accent1"/>
                </a:solidFill>
              </a:rPr>
              <a:t>Packs et cuvettes suspendus</a:t>
            </a:r>
          </a:p>
        </p:txBody>
      </p:sp>
      <p:sp>
        <p:nvSpPr>
          <p:cNvPr id="33" name="ZoneTexte 32"/>
          <p:cNvSpPr txBox="1"/>
          <p:nvPr/>
        </p:nvSpPr>
        <p:spPr>
          <a:xfrm>
            <a:off x="2247339" y="6450145"/>
            <a:ext cx="3661848" cy="276999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tx2">
                    <a:lumMod val="75000"/>
                  </a:schemeClr>
                </a:solidFill>
              </a:rPr>
              <a:t>* 2 pièces céramiques par solution sur pied en pack</a:t>
            </a:r>
          </a:p>
        </p:txBody>
      </p:sp>
      <p:grpSp>
        <p:nvGrpSpPr>
          <p:cNvPr id="7" name="Groupe 6"/>
          <p:cNvGrpSpPr/>
          <p:nvPr/>
        </p:nvGrpSpPr>
        <p:grpSpPr>
          <a:xfrm>
            <a:off x="9624392" y="1576366"/>
            <a:ext cx="1080120" cy="1080120"/>
            <a:chOff x="8436769" y="1576366"/>
            <a:chExt cx="1080120" cy="1080120"/>
          </a:xfrm>
        </p:grpSpPr>
        <p:sp>
          <p:nvSpPr>
            <p:cNvPr id="26" name="Rectangle 25"/>
            <p:cNvSpPr/>
            <p:nvPr/>
          </p:nvSpPr>
          <p:spPr>
            <a:xfrm>
              <a:off x="8442083" y="1700809"/>
              <a:ext cx="1068171" cy="81297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pic>
          <p:nvPicPr>
            <p:cNvPr id="5" name="Image 4" descr="SELLES JAZZ - WC - suspendus - [ApointChauff]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6769" y="1576366"/>
              <a:ext cx="1080120" cy="1080120"/>
            </a:xfrm>
            <a:prstGeom prst="rect">
              <a:avLst/>
            </a:prstGeom>
          </p:spPr>
        </p:pic>
      </p:grpSp>
      <p:sp>
        <p:nvSpPr>
          <p:cNvPr id="24" name="Rectangle à coins arrondis 23"/>
          <p:cNvSpPr/>
          <p:nvPr/>
        </p:nvSpPr>
        <p:spPr>
          <a:xfrm>
            <a:off x="511300" y="3081948"/>
            <a:ext cx="1278193" cy="694104"/>
          </a:xfrm>
          <a:prstGeom prst="round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solidFill>
                  <a:srgbClr val="21989E"/>
                </a:solidFill>
                <a:latin typeface="+mj-lt"/>
              </a:rPr>
              <a:t>38% des solutions </a:t>
            </a:r>
          </a:p>
        </p:txBody>
      </p:sp>
      <p:sp>
        <p:nvSpPr>
          <p:cNvPr id="6" name="Virage 5"/>
          <p:cNvSpPr/>
          <p:nvPr/>
        </p:nvSpPr>
        <p:spPr>
          <a:xfrm rot="16200000">
            <a:off x="903973" y="3943082"/>
            <a:ext cx="694103" cy="360041"/>
          </a:xfrm>
          <a:prstGeom prst="bentArrow">
            <a:avLst/>
          </a:prstGeom>
          <a:solidFill>
            <a:srgbClr val="21989E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7" name="Espace réservé du numéro de diapositive 3">
            <a:extLst>
              <a:ext uri="{FF2B5EF4-FFF2-40B4-BE49-F238E27FC236}">
                <a16:creationId xmlns:a16="http://schemas.microsoft.com/office/drawing/2014/main" id="{1B038BD5-E0C3-46B1-832C-21B044E3EC85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A50B6BE0-F9FC-4631-9696-0DEFF85E0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Les produits de WC en termes de </a:t>
            </a:r>
            <a:r>
              <a:rPr lang="fr-FR" dirty="0">
                <a:solidFill>
                  <a:schemeClr val="accent1"/>
                </a:solidFill>
              </a:rPr>
              <a:t>solutions</a:t>
            </a:r>
            <a:r>
              <a:rPr lang="fr-FR" dirty="0"/>
              <a:t> et pas de nombre de pièces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D3C452A-C39B-4E05-8188-33E20B3755F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368861" y="3206249"/>
            <a:ext cx="9402762" cy="170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96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Le marché des pièces céramiques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415034"/>
          </a:xfrm>
        </p:spPr>
        <p:txBody>
          <a:bodyPr>
            <a:normAutofit lnSpcReduction="10000"/>
          </a:bodyPr>
          <a:lstStyle/>
          <a:p>
            <a:r>
              <a:rPr lang="fr-FR" dirty="0"/>
              <a:t>Zoom sur les bâti-supports *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5" name="Image 4" descr="Vergrootglas Loep Zoom Het Formaat · Gratis ..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71747" y="2521298"/>
            <a:ext cx="2003756" cy="1277395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396474" y="6225524"/>
            <a:ext cx="5601344" cy="461665"/>
          </a:xfrm>
          <a:prstGeom prst="rect">
            <a:avLst/>
          </a:prstGeom>
          <a:noFill/>
          <a:ln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tx2">
                    <a:lumMod val="75000"/>
                  </a:schemeClr>
                </a:solidFill>
              </a:rPr>
              <a:t>* Les données sur les bâti-supports ne sont pas comptabilisées dans la famille de produits : pièces en céramique</a:t>
            </a:r>
          </a:p>
        </p:txBody>
      </p:sp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90331F4B-5053-4026-906E-1D9B2A1A03FE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F12EF25-F60A-4B65-B5B2-E10D2C777CC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275503" y="1763238"/>
            <a:ext cx="8899525" cy="3482975"/>
          </a:xfrm>
          <a:prstGeom prst="rect">
            <a:avLst/>
          </a:prstGeom>
        </p:spPr>
      </p:pic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BF603F8E-D96F-46CA-99CA-E7598FBB63F9}"/>
              </a:ext>
            </a:extLst>
          </p:cNvPr>
          <p:cNvSpPr txBox="1">
            <a:spLocks/>
          </p:cNvSpPr>
          <p:nvPr/>
        </p:nvSpPr>
        <p:spPr>
          <a:xfrm>
            <a:off x="1415480" y="5347421"/>
            <a:ext cx="9361040" cy="844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Aux ventes de bâti-supports vendus seuls, s’ajoutent ceux vendus en packs (307 600 en 2020) doit un total de 1 120 600 solutions avec bâti-supports 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4633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Le marché des pièces céramiques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>
              <a:solidFill>
                <a:schemeClr val="accent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Pièces pour collectivités et éviers de cuisine</a:t>
            </a:r>
          </a:p>
        </p:txBody>
      </p: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EA146E95-55D1-4667-81BC-C0EC7C9B0A76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7D8B755-93C8-406F-9559-62C83EE9696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10277" y="2041030"/>
            <a:ext cx="9402762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259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Le marché des pièces céramiques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>
              <a:solidFill>
                <a:schemeClr val="accent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Pièces pour PMR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95" y="1162694"/>
            <a:ext cx="968300" cy="968300"/>
          </a:xfrm>
          <a:prstGeom prst="rect">
            <a:avLst/>
          </a:prstGeom>
        </p:spPr>
      </p:pic>
      <p:sp>
        <p:nvSpPr>
          <p:cNvPr id="15" name="Espace réservé du numéro de diapositive 3">
            <a:extLst>
              <a:ext uri="{FF2B5EF4-FFF2-40B4-BE49-F238E27FC236}">
                <a16:creationId xmlns:a16="http://schemas.microsoft.com/office/drawing/2014/main" id="{4FD9A499-9035-47CF-A5BA-CF78270A4CB0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838E970-547C-4925-A293-E7A52296119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937967" y="1162694"/>
            <a:ext cx="4771563" cy="121834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EB8EE1F-7EDC-4A77-B621-0A4BE9F237A9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323748" y="2448457"/>
            <a:ext cx="4389437" cy="143093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17A8B6E-75CA-40FB-9D4E-5068672027B5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24991" y="4177244"/>
            <a:ext cx="4389437" cy="252253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7402E63-BEB4-4D89-8A05-B0E874A11AD1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6466707" y="3944511"/>
            <a:ext cx="4389437" cy="273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29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Le marché des pièces céramiques en 2020 </a:t>
            </a:r>
            <a:r>
              <a:rPr lang="fr-FR" dirty="0"/>
              <a:t>:</a:t>
            </a:r>
            <a:r>
              <a:rPr lang="fr-FR" dirty="0">
                <a:solidFill>
                  <a:schemeClr val="accent6"/>
                </a:solidFill>
              </a:rPr>
              <a:t> </a:t>
            </a:r>
            <a:br>
              <a:rPr lang="fr-FR" dirty="0">
                <a:solidFill>
                  <a:schemeClr val="accent6"/>
                </a:solidFill>
              </a:rPr>
            </a:br>
            <a:r>
              <a:rPr lang="fr-FR" b="1" dirty="0">
                <a:solidFill>
                  <a:srgbClr val="21989E"/>
                </a:solidFill>
              </a:rPr>
              <a:t>Les circuits de distribution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0338" y="1105481"/>
            <a:ext cx="9361040" cy="504056"/>
          </a:xfrm>
        </p:spPr>
        <p:txBody>
          <a:bodyPr/>
          <a:lstStyle/>
          <a:p>
            <a:r>
              <a:rPr lang="fr-FR" dirty="0"/>
              <a:t>Le poids des circuits de distribution </a:t>
            </a:r>
            <a:r>
              <a:rPr lang="fr-FR" u="sng" dirty="0"/>
              <a:t>en volume 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61CCF583-446A-425D-9CB4-054928561368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51464F4-28B5-4D8F-BD6F-204759F6774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797982" y="1518083"/>
            <a:ext cx="6579700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3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Le marché des pièces céramiques en 2020 </a:t>
            </a:r>
            <a:r>
              <a:rPr lang="fr-FR" dirty="0"/>
              <a:t>:</a:t>
            </a:r>
            <a:r>
              <a:rPr lang="fr-FR" dirty="0">
                <a:solidFill>
                  <a:schemeClr val="accent6"/>
                </a:solidFill>
              </a:rPr>
              <a:t> </a:t>
            </a:r>
            <a:br>
              <a:rPr lang="fr-FR" dirty="0">
                <a:solidFill>
                  <a:schemeClr val="accent6"/>
                </a:solidFill>
              </a:rPr>
            </a:br>
            <a:r>
              <a:rPr lang="fr-FR" b="1" dirty="0">
                <a:solidFill>
                  <a:srgbClr val="21989E"/>
                </a:solidFill>
              </a:rPr>
              <a:t>Les circuits de distribution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61CCF583-446A-425D-9CB4-054928561368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D5A369FC-D2AC-4FC4-9D5A-620538CD6235}"/>
              </a:ext>
            </a:extLst>
          </p:cNvPr>
          <p:cNvSpPr txBox="1">
            <a:spLocks/>
          </p:cNvSpPr>
          <p:nvPr/>
        </p:nvSpPr>
        <p:spPr>
          <a:xfrm>
            <a:off x="70338" y="1104830"/>
            <a:ext cx="936104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Le poids des circuits de distribution </a:t>
            </a:r>
            <a:r>
              <a:rPr lang="fr-FR" u="sng" dirty="0"/>
              <a:t>en valeur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6A4D420-43CB-4C2D-9227-BFFAB9F5C33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77105" y="1524885"/>
            <a:ext cx="6387735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026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Le marché des pièces céramiques en 2020 </a:t>
            </a:r>
            <a:r>
              <a:rPr lang="fr-FR" dirty="0"/>
              <a:t>:</a:t>
            </a:r>
            <a:r>
              <a:rPr lang="fr-FR" dirty="0">
                <a:solidFill>
                  <a:schemeClr val="accent6"/>
                </a:solidFill>
              </a:rPr>
              <a:t> </a:t>
            </a:r>
            <a:br>
              <a:rPr lang="fr-FR" dirty="0">
                <a:solidFill>
                  <a:schemeClr val="accent6"/>
                </a:solidFill>
              </a:rPr>
            </a:br>
            <a:r>
              <a:rPr lang="fr-FR" b="1" dirty="0">
                <a:solidFill>
                  <a:srgbClr val="21989E"/>
                </a:solidFill>
              </a:rPr>
              <a:t>Les marques</a:t>
            </a:r>
            <a:endParaRPr lang="fr-FR" dirty="0">
              <a:solidFill>
                <a:schemeClr val="accent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Le poids des types de marques </a:t>
            </a:r>
            <a:r>
              <a:rPr lang="fr-FR" u="sng" dirty="0"/>
              <a:t>en volume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D3CA87FE-C527-4FC2-A474-5796C9366EDA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5ACCE71-A45A-4AC8-9AD0-D2C565C99F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73518" y="4592211"/>
            <a:ext cx="7848600" cy="208756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6C9B5DE6-E814-4C6D-AB82-B5C8B58606A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77158" y="1734059"/>
            <a:ext cx="10185400" cy="22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701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Le marché des pièces céramiques en 2020 </a:t>
            </a:r>
            <a:r>
              <a:rPr lang="fr-FR" dirty="0"/>
              <a:t>:</a:t>
            </a:r>
            <a:r>
              <a:rPr lang="fr-FR" dirty="0">
                <a:solidFill>
                  <a:schemeClr val="accent6"/>
                </a:solidFill>
              </a:rPr>
              <a:t> </a:t>
            </a:r>
            <a:br>
              <a:rPr lang="fr-FR" dirty="0">
                <a:solidFill>
                  <a:schemeClr val="accent6"/>
                </a:solidFill>
              </a:rPr>
            </a:br>
            <a:r>
              <a:rPr lang="fr-FR" b="1" dirty="0">
                <a:solidFill>
                  <a:srgbClr val="21989E"/>
                </a:solidFill>
              </a:rPr>
              <a:t>Les marques</a:t>
            </a:r>
            <a:endParaRPr lang="fr-FR" dirty="0">
              <a:solidFill>
                <a:schemeClr val="accent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Le poids des types de marques </a:t>
            </a:r>
            <a:r>
              <a:rPr lang="fr-FR" u="sng" dirty="0"/>
              <a:t>en valeur</a:t>
            </a:r>
          </a:p>
        </p:txBody>
      </p:sp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DFE012A6-78A3-42B4-8DE8-B3B8DFAC5B2B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7F87BAF-024C-494F-AFF0-05E35E1B047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55281" y="4553162"/>
            <a:ext cx="7848600" cy="208756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7E2EDF36-F10B-42C6-9B45-048BAA88D2B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87131" y="1711107"/>
            <a:ext cx="10185400" cy="22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44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358055A-BF53-4FB6-8B8A-2400D1406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2-Le marché des receveurs de douches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03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marché des receveurs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Ensemble de la famille de produits 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2D6915C2-4C91-4D1E-A908-2A357D180F18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E240C3F-E4B7-44B8-86C4-87CD081BE63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09855" y="1700809"/>
            <a:ext cx="10575925" cy="86836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58961AD-9994-48F2-AEF8-0AED0EAA3F1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245157" y="3073228"/>
            <a:ext cx="6332538" cy="3398837"/>
          </a:xfrm>
          <a:prstGeom prst="rect">
            <a:avLst/>
          </a:prstGeom>
        </p:spPr>
      </p:pic>
      <p:sp>
        <p:nvSpPr>
          <p:cNvPr id="9" name="Flèche : pentagone 8">
            <a:extLst>
              <a:ext uri="{FF2B5EF4-FFF2-40B4-BE49-F238E27FC236}">
                <a16:creationId xmlns:a16="http://schemas.microsoft.com/office/drawing/2014/main" id="{30718716-20B1-4E41-9FA2-3FA9087E09C5}"/>
              </a:ext>
            </a:extLst>
          </p:cNvPr>
          <p:cNvSpPr/>
          <p:nvPr/>
        </p:nvSpPr>
        <p:spPr>
          <a:xfrm>
            <a:off x="211028" y="3384651"/>
            <a:ext cx="2408904" cy="177254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Évolution de la variation annuelle par rapport à l’année précédente sur 4 ans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AA546E4-74BD-4FB0-BF52-73270A7A06E9}"/>
              </a:ext>
            </a:extLst>
          </p:cNvPr>
          <p:cNvSpPr txBox="1"/>
          <p:nvPr/>
        </p:nvSpPr>
        <p:spPr>
          <a:xfrm>
            <a:off x="211028" y="5248914"/>
            <a:ext cx="1650588" cy="1569660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i="1" dirty="0"/>
              <a:t>Changements méthodologiques concernant les données 2019 et 2020 aboutissant à une rupture de la série de données du marché avec celles antérieures</a:t>
            </a:r>
          </a:p>
        </p:txBody>
      </p:sp>
    </p:spTree>
    <p:extLst>
      <p:ext uri="{BB962C8B-B14F-4D97-AF65-F5344CB8AC3E}">
        <p14:creationId xmlns:p14="http://schemas.microsoft.com/office/powerpoint/2010/main" val="2992843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marché des receveurs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18097"/>
            <a:ext cx="9361040" cy="504056"/>
          </a:xfrm>
        </p:spPr>
        <p:txBody>
          <a:bodyPr/>
          <a:lstStyle/>
          <a:p>
            <a:r>
              <a:rPr lang="fr-FR" dirty="0"/>
              <a:t>Ensemble de la famille de produits 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2D6915C2-4C91-4D1E-A908-2A357D180F18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B4AFDC8-91ED-45CB-8497-B8D3AE9C70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1225" y="1498174"/>
            <a:ext cx="10575925" cy="25908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FF41275-3657-492B-968C-ACDB7CF275B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179355" y="4247535"/>
            <a:ext cx="7459663" cy="2486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685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marché des receveurs en 2020 : </a:t>
            </a:r>
            <a:r>
              <a:rPr lang="fr-FR" b="1" dirty="0">
                <a:solidFill>
                  <a:srgbClr val="21989E"/>
                </a:solidFill>
              </a:rPr>
              <a:t>Les circuits de distribution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0338" y="1125147"/>
            <a:ext cx="9361040" cy="504056"/>
          </a:xfrm>
        </p:spPr>
        <p:txBody>
          <a:bodyPr/>
          <a:lstStyle/>
          <a:p>
            <a:r>
              <a:rPr lang="fr-FR" dirty="0"/>
              <a:t>Le poids des circuits de distribution </a:t>
            </a:r>
            <a:r>
              <a:rPr lang="fr-FR" u="sng" dirty="0"/>
              <a:t>en volume 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96AD3E21-396E-4512-8798-2D90D1CA096B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32E03E8-6993-406B-86CC-D1DDDAB5A54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74681" y="1581100"/>
            <a:ext cx="7937428" cy="5184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82DA155-7706-4B57-BB3E-783E3E2C9956}"/>
              </a:ext>
            </a:extLst>
          </p:cNvPr>
          <p:cNvSpPr txBox="1"/>
          <p:nvPr/>
        </p:nvSpPr>
        <p:spPr>
          <a:xfrm>
            <a:off x="9859150" y="6540975"/>
            <a:ext cx="1660139" cy="26161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/>
              <a:t>n.s</a:t>
            </a:r>
            <a:r>
              <a:rPr lang="fr-FR" sz="1100" dirty="0"/>
              <a:t>. : non significatif </a:t>
            </a:r>
          </a:p>
        </p:txBody>
      </p:sp>
    </p:spTree>
    <p:extLst>
      <p:ext uri="{BB962C8B-B14F-4D97-AF65-F5344CB8AC3E}">
        <p14:creationId xmlns:p14="http://schemas.microsoft.com/office/powerpoint/2010/main" val="442344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marché des receveurs en 2020 : </a:t>
            </a:r>
            <a:r>
              <a:rPr lang="fr-FR" b="1" dirty="0">
                <a:solidFill>
                  <a:srgbClr val="21989E"/>
                </a:solidFill>
              </a:rPr>
              <a:t>Les circuits de distribution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96AD3E21-396E-4512-8798-2D90D1CA096B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FCB3D0EF-0D75-4EF1-BCC0-CCA7736D4005}"/>
              </a:ext>
            </a:extLst>
          </p:cNvPr>
          <p:cNvSpPr txBox="1">
            <a:spLocks/>
          </p:cNvSpPr>
          <p:nvPr/>
        </p:nvSpPr>
        <p:spPr>
          <a:xfrm>
            <a:off x="-69051" y="1120097"/>
            <a:ext cx="936104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Le poids des circuits de distribution </a:t>
            </a:r>
            <a:r>
              <a:rPr lang="fr-FR" u="sng" dirty="0"/>
              <a:t>en valeur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C6E3B9A-9B5E-49BD-99BA-253A0A99834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867384" y="1562574"/>
            <a:ext cx="7828618" cy="5220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38F99797-40EF-40AB-9291-538C888ABB64}"/>
              </a:ext>
            </a:extLst>
          </p:cNvPr>
          <p:cNvSpPr txBox="1"/>
          <p:nvPr/>
        </p:nvSpPr>
        <p:spPr>
          <a:xfrm>
            <a:off x="9963760" y="6535282"/>
            <a:ext cx="1660139" cy="26161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/>
              <a:t>n.s</a:t>
            </a:r>
            <a:r>
              <a:rPr lang="fr-FR" sz="1100" dirty="0"/>
              <a:t>. : non significatif </a:t>
            </a:r>
          </a:p>
        </p:txBody>
      </p:sp>
    </p:spTree>
    <p:extLst>
      <p:ext uri="{BB962C8B-B14F-4D97-AF65-F5344CB8AC3E}">
        <p14:creationId xmlns:p14="http://schemas.microsoft.com/office/powerpoint/2010/main" val="944483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marché des receveurs en 2020 : </a:t>
            </a:r>
            <a:r>
              <a:rPr lang="fr-FR" b="1" dirty="0">
                <a:solidFill>
                  <a:srgbClr val="21989E"/>
                </a:solidFill>
              </a:rPr>
              <a:t>Les marques</a:t>
            </a:r>
            <a:endParaRPr lang="fr-FR" dirty="0">
              <a:solidFill>
                <a:schemeClr val="accent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Le poids des types de marques </a:t>
            </a:r>
            <a:r>
              <a:rPr lang="fr-FR" u="sng" dirty="0"/>
              <a:t>en volume</a:t>
            </a:r>
          </a:p>
        </p:txBody>
      </p:sp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29CCB7C8-1344-4B6B-AAD5-19D65448D9B9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25FFC89-9799-4AB2-A7E4-8B8F12496E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1543" y="1700809"/>
            <a:ext cx="11512550" cy="22606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8F08A79-9D54-4B92-92E6-E0D5254CFD6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9005" y="4219149"/>
            <a:ext cx="8937625" cy="246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473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marché des receveurs en 2020 : </a:t>
            </a:r>
            <a:r>
              <a:rPr lang="fr-FR" b="1" dirty="0">
                <a:solidFill>
                  <a:srgbClr val="21989E"/>
                </a:solidFill>
              </a:rPr>
              <a:t>Les marques</a:t>
            </a:r>
            <a:endParaRPr lang="fr-FR" dirty="0">
              <a:solidFill>
                <a:schemeClr val="accent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Le poids des types de marques </a:t>
            </a:r>
            <a:r>
              <a:rPr lang="fr-FR" u="sng" dirty="0"/>
              <a:t>en valeur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EE945A05-C293-484B-9097-4954AA96DD78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843C784-64DF-4921-AC3A-F1191249E34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15897" y="1640314"/>
            <a:ext cx="11512550" cy="230505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4CEA4CB-B006-4BEA-A315-E9EC526FC14E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16050" y="4141788"/>
            <a:ext cx="8937625" cy="246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3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358055A-BF53-4FB6-8B8A-2400D1406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3-Le marché des baignoires nues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21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marché des baignoires nues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Ensemble de la famille de produits 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2D6915C2-4C91-4D1E-A908-2A357D180F18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E336DC7-6C55-4F5D-BFEE-70D734967A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12838" y="1700213"/>
            <a:ext cx="9396412" cy="87630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85122BA9-25D6-4EB3-8046-69845963E1D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990850" y="2830513"/>
            <a:ext cx="7527925" cy="3840162"/>
          </a:xfrm>
          <a:prstGeom prst="rect">
            <a:avLst/>
          </a:prstGeom>
        </p:spPr>
      </p:pic>
      <p:sp>
        <p:nvSpPr>
          <p:cNvPr id="10" name="Flèche : pentagone 9">
            <a:extLst>
              <a:ext uri="{FF2B5EF4-FFF2-40B4-BE49-F238E27FC236}">
                <a16:creationId xmlns:a16="http://schemas.microsoft.com/office/drawing/2014/main" id="{A954ED81-7EA6-4728-9A33-C42B5BEDBC79}"/>
              </a:ext>
            </a:extLst>
          </p:cNvPr>
          <p:cNvSpPr/>
          <p:nvPr/>
        </p:nvSpPr>
        <p:spPr>
          <a:xfrm>
            <a:off x="211028" y="3384651"/>
            <a:ext cx="2408904" cy="177254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Évolution de la variation annuelle par rapport à l’année précédente sur 4 ans</a:t>
            </a:r>
          </a:p>
        </p:txBody>
      </p:sp>
    </p:spTree>
    <p:extLst>
      <p:ext uri="{BB962C8B-B14F-4D97-AF65-F5344CB8AC3E}">
        <p14:creationId xmlns:p14="http://schemas.microsoft.com/office/powerpoint/2010/main" val="414488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marché des baignoires nues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Ensemble de la famille de produits 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941D5D30-ABC9-41AB-B3B2-A8A520057B98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1143CA9-2CE9-4303-A09C-02B5F7EA81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52922" y="1570532"/>
            <a:ext cx="9394825" cy="25908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2900E6F-8FEB-4526-83D5-E8CCB2424EA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858536" y="4535111"/>
            <a:ext cx="6278563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19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b="1" dirty="0"/>
              <a:t>Le marché des baignoires nues en 2020 : </a:t>
            </a:r>
            <a:br>
              <a:rPr lang="fr-FR" b="1" dirty="0"/>
            </a:br>
            <a:r>
              <a:rPr lang="fr-FR" b="1" dirty="0">
                <a:solidFill>
                  <a:srgbClr val="21989E"/>
                </a:solidFill>
              </a:rPr>
              <a:t>Les circuits de distribution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18095"/>
            <a:ext cx="9361040" cy="504056"/>
          </a:xfrm>
        </p:spPr>
        <p:txBody>
          <a:bodyPr/>
          <a:lstStyle/>
          <a:p>
            <a:r>
              <a:rPr lang="fr-FR" dirty="0"/>
              <a:t>Le poids des circuits de distribution </a:t>
            </a:r>
            <a:r>
              <a:rPr lang="fr-FR" u="sng" dirty="0"/>
              <a:t>en volume 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96AD3E21-396E-4512-8798-2D90D1CA096B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B66B4EE-3D55-4634-A26B-12DB9E81360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45818" y="1517237"/>
            <a:ext cx="5931184" cy="52560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C0FE67F-5E8A-4D0A-B563-B01E3FAE59FE}"/>
              </a:ext>
            </a:extLst>
          </p:cNvPr>
          <p:cNvSpPr txBox="1"/>
          <p:nvPr/>
        </p:nvSpPr>
        <p:spPr>
          <a:xfrm>
            <a:off x="9776025" y="6540975"/>
            <a:ext cx="1660139" cy="26161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/>
              <a:t>n.s</a:t>
            </a:r>
            <a:r>
              <a:rPr lang="fr-FR" sz="1100" dirty="0"/>
              <a:t>. : non significatif </a:t>
            </a:r>
          </a:p>
        </p:txBody>
      </p:sp>
    </p:spTree>
    <p:extLst>
      <p:ext uri="{BB962C8B-B14F-4D97-AF65-F5344CB8AC3E}">
        <p14:creationId xmlns:p14="http://schemas.microsoft.com/office/powerpoint/2010/main" val="78306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b="1" dirty="0"/>
              <a:t>Le marché des baignoires nues en 2020 : </a:t>
            </a:r>
            <a:br>
              <a:rPr lang="fr-FR" b="1" dirty="0"/>
            </a:br>
            <a:r>
              <a:rPr lang="fr-FR" b="1" dirty="0">
                <a:solidFill>
                  <a:srgbClr val="21989E"/>
                </a:solidFill>
              </a:rPr>
              <a:t>Les circuits de distribution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96AD3E21-396E-4512-8798-2D90D1CA096B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6A2C6B0D-2637-41FE-8E34-9613E8ABD36A}"/>
              </a:ext>
            </a:extLst>
          </p:cNvPr>
          <p:cNvSpPr txBox="1">
            <a:spLocks/>
          </p:cNvSpPr>
          <p:nvPr/>
        </p:nvSpPr>
        <p:spPr>
          <a:xfrm>
            <a:off x="-74107" y="1068688"/>
            <a:ext cx="936104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Le poids des circuits de distribution </a:t>
            </a:r>
            <a:r>
              <a:rPr lang="fr-FR" u="sng" dirty="0"/>
              <a:t>en valeur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55C2C8D-1964-47C5-BDC8-472C31FE546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08200" y="1501472"/>
            <a:ext cx="5709871" cy="5256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5164297-D4ED-4CB6-86FD-D4966F4882D9}"/>
              </a:ext>
            </a:extLst>
          </p:cNvPr>
          <p:cNvSpPr txBox="1"/>
          <p:nvPr/>
        </p:nvSpPr>
        <p:spPr>
          <a:xfrm>
            <a:off x="9776025" y="6540975"/>
            <a:ext cx="1660139" cy="26161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/>
              <a:t>n.s</a:t>
            </a:r>
            <a:r>
              <a:rPr lang="fr-FR" sz="1100" dirty="0"/>
              <a:t>. : non significatif </a:t>
            </a:r>
          </a:p>
        </p:txBody>
      </p:sp>
    </p:spTree>
    <p:extLst>
      <p:ext uri="{BB962C8B-B14F-4D97-AF65-F5344CB8AC3E}">
        <p14:creationId xmlns:p14="http://schemas.microsoft.com/office/powerpoint/2010/main" val="478030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marché des baignoires nues en 2020 : </a:t>
            </a:r>
            <a:r>
              <a:rPr lang="fr-FR" b="1" dirty="0">
                <a:solidFill>
                  <a:srgbClr val="21989E"/>
                </a:solidFill>
              </a:rPr>
              <a:t>Les marques</a:t>
            </a:r>
            <a:endParaRPr lang="fr-FR" dirty="0">
              <a:solidFill>
                <a:schemeClr val="accent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Le poids des types de marques </a:t>
            </a:r>
            <a:r>
              <a:rPr lang="fr-FR" u="sng" dirty="0"/>
              <a:t>en volume</a:t>
            </a:r>
          </a:p>
        </p:txBody>
      </p:sp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29CCB7C8-1344-4B6B-AAD5-19D65448D9B9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8" name="Objet 7">
            <a:extLst>
              <a:ext uri="{FF2B5EF4-FFF2-40B4-BE49-F238E27FC236}">
                <a16:creationId xmlns:a16="http://schemas.microsoft.com/office/drawing/2014/main" id="{B736EC5E-9AF5-4CEA-B1BF-5FFC0D24D4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2798950"/>
              </p:ext>
            </p:extLst>
          </p:nvPr>
        </p:nvGraphicFramePr>
        <p:xfrm>
          <a:off x="2542612" y="4055586"/>
          <a:ext cx="6811322" cy="262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6358255" imgH="2449347" progId="Excel.SheetBinaryMacroEnabled.12">
                  <p:embed/>
                </p:oleObj>
              </mc:Choice>
              <mc:Fallback>
                <p:oleObj name="Binary Worksheet" r:id="rId2" imgW="6358255" imgH="2449347" progId="Excel.SheetBinary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42612" y="4055586"/>
                        <a:ext cx="6811322" cy="2624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6AE50A91-096B-4BF0-A6DA-D928609E92B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74573" y="1608411"/>
            <a:ext cx="10947400" cy="22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336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marché des baignoires nues en 2020 : </a:t>
            </a:r>
            <a:r>
              <a:rPr lang="fr-FR" b="1" dirty="0">
                <a:solidFill>
                  <a:srgbClr val="21989E"/>
                </a:solidFill>
              </a:rPr>
              <a:t>Les marques</a:t>
            </a:r>
            <a:endParaRPr lang="fr-FR" dirty="0">
              <a:solidFill>
                <a:schemeClr val="accent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Le poids des types de marques </a:t>
            </a:r>
            <a:r>
              <a:rPr lang="fr-FR" u="sng" dirty="0"/>
              <a:t>en valeur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EE945A05-C293-484B-9097-4954AA96DD78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2070C79-A8A8-49D1-930D-5BE04A16C70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76284" y="4210960"/>
            <a:ext cx="7201566" cy="246881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8A34896E-32DE-4E07-9E4D-276DDEBDD29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45320" y="1700809"/>
            <a:ext cx="10947400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133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25110828-C19D-4DA7-A12D-5D0D8E846F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4-Le marché des baignoires balnéo en 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807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marché des baignoires balnéo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Ensemble de la famille de produits </a:t>
            </a:r>
          </a:p>
        </p:txBody>
      </p:sp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F1AB1387-8E69-454F-9819-2035FE7A4430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61DC6AF-4634-4DD5-B1F2-4DFCF28A6C2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76895" y="1686339"/>
            <a:ext cx="9699625" cy="86836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69CFEC5E-1829-4086-AB6B-CC5BC5EAD55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962400" y="2716213"/>
            <a:ext cx="6864350" cy="4095750"/>
          </a:xfrm>
          <a:prstGeom prst="rect">
            <a:avLst/>
          </a:prstGeom>
        </p:spPr>
      </p:pic>
      <p:sp>
        <p:nvSpPr>
          <p:cNvPr id="10" name="Flèche : pentagone 9">
            <a:extLst>
              <a:ext uri="{FF2B5EF4-FFF2-40B4-BE49-F238E27FC236}">
                <a16:creationId xmlns:a16="http://schemas.microsoft.com/office/drawing/2014/main" id="{BB615970-D3E2-44D3-947A-94749B989E21}"/>
              </a:ext>
            </a:extLst>
          </p:cNvPr>
          <p:cNvSpPr/>
          <p:nvPr/>
        </p:nvSpPr>
        <p:spPr>
          <a:xfrm>
            <a:off x="211028" y="3384651"/>
            <a:ext cx="2408904" cy="177254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Évolution de la variation annuelle par rapport à l’année précédente sur 4 ans</a:t>
            </a:r>
          </a:p>
        </p:txBody>
      </p:sp>
    </p:spTree>
    <p:extLst>
      <p:ext uri="{BB962C8B-B14F-4D97-AF65-F5344CB8AC3E}">
        <p14:creationId xmlns:p14="http://schemas.microsoft.com/office/powerpoint/2010/main" val="80411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marché des baignoires balnéo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Ensemble de la famille de produits 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5BDCD4D6-1F17-4EAA-95EB-70BB15FC7764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E0387FF-AAC8-480B-9B50-72F4B895662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76895" y="1700809"/>
            <a:ext cx="9699625" cy="20193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E18A60F-3192-4A89-BC9E-041DBB43337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635025" y="4224165"/>
            <a:ext cx="6583363" cy="227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48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Le marché des baignoires balnéo en 2020 : </a:t>
            </a:r>
            <a:r>
              <a:rPr lang="fr-FR" b="1" dirty="0">
                <a:solidFill>
                  <a:srgbClr val="21989E"/>
                </a:solidFill>
              </a:rPr>
              <a:t>Les circuits de distribution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98430"/>
            <a:ext cx="9361040" cy="504056"/>
          </a:xfrm>
        </p:spPr>
        <p:txBody>
          <a:bodyPr/>
          <a:lstStyle/>
          <a:p>
            <a:r>
              <a:rPr lang="fr-FR" dirty="0"/>
              <a:t>Le poids des circuits de distribution </a:t>
            </a:r>
            <a:r>
              <a:rPr lang="fr-FR" u="sng" dirty="0"/>
              <a:t>en volume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>
          <a:xfrm>
            <a:off x="11691298" y="6540975"/>
            <a:ext cx="468000" cy="2775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35</a:t>
            </a:fld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10155BD-143A-4F21-8223-6BB12EF12AF9}"/>
              </a:ext>
            </a:extLst>
          </p:cNvPr>
          <p:cNvSpPr txBox="1"/>
          <p:nvPr/>
        </p:nvSpPr>
        <p:spPr>
          <a:xfrm>
            <a:off x="9776025" y="6540975"/>
            <a:ext cx="1660139" cy="26161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/>
              <a:t>n.s</a:t>
            </a:r>
            <a:r>
              <a:rPr lang="fr-FR" sz="1100" dirty="0"/>
              <a:t>. : non significatif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AA28B97-65B5-4615-ACDD-B6690907F1A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528729" y="1423774"/>
            <a:ext cx="5577271" cy="52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606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Le marché des baignoires balnéo en 2020 : </a:t>
            </a:r>
            <a:r>
              <a:rPr lang="fr-FR" b="1" dirty="0">
                <a:solidFill>
                  <a:srgbClr val="21989E"/>
                </a:solidFill>
              </a:rPr>
              <a:t>Les circuits de distribution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>
          <a:xfrm>
            <a:off x="11691298" y="6540975"/>
            <a:ext cx="468000" cy="2775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36</a:t>
            </a:fld>
            <a:endParaRPr lang="fr-FR" dirty="0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6D06E5EA-3DD7-465B-972E-1312821675C3}"/>
              </a:ext>
            </a:extLst>
          </p:cNvPr>
          <p:cNvSpPr txBox="1">
            <a:spLocks/>
          </p:cNvSpPr>
          <p:nvPr/>
        </p:nvSpPr>
        <p:spPr>
          <a:xfrm>
            <a:off x="-29715" y="1123950"/>
            <a:ext cx="936104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Le poids des circuits de distribution </a:t>
            </a:r>
            <a:r>
              <a:rPr lang="fr-FR" u="sng" dirty="0"/>
              <a:t>en valeur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764F14D-F581-484C-88BA-55C78A625E6D}"/>
              </a:ext>
            </a:extLst>
          </p:cNvPr>
          <p:cNvSpPr txBox="1"/>
          <p:nvPr/>
        </p:nvSpPr>
        <p:spPr>
          <a:xfrm>
            <a:off x="9776025" y="6540975"/>
            <a:ext cx="1660139" cy="26161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/>
              <a:t>n.s</a:t>
            </a:r>
            <a:r>
              <a:rPr lang="fr-FR" sz="1100" dirty="0"/>
              <a:t>. : non significatif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B4B7665-0BBE-449B-9EF1-3A561A84596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631464" y="1459774"/>
            <a:ext cx="5484118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295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/>
              <a:t>Le marché des baignoires balnéo en 2020 : </a:t>
            </a:r>
            <a:r>
              <a:rPr lang="fr-FR" sz="3200" b="1" dirty="0">
                <a:solidFill>
                  <a:srgbClr val="21989E"/>
                </a:solidFill>
              </a:rPr>
              <a:t>Les marques</a:t>
            </a:r>
            <a:endParaRPr lang="fr-FR" sz="3200" dirty="0">
              <a:solidFill>
                <a:srgbClr val="993366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>
          <a:xfrm>
            <a:off x="11691298" y="6540975"/>
            <a:ext cx="468000" cy="2775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37</a:t>
            </a:fld>
            <a:endParaRPr lang="fr-FR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76A18D4A-F2FB-4AB0-9314-A73BBFFC3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Le poids des types de marques </a:t>
            </a:r>
            <a:r>
              <a:rPr lang="fr-FR" u="sng" dirty="0"/>
              <a:t>en volume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00FFF83-CD9A-4D79-B6D7-FB37787CF2D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94711" y="1730305"/>
            <a:ext cx="10670721" cy="1937126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2F9A63F-FA80-47EC-98E4-FC98A9EA137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404107" y="4351861"/>
            <a:ext cx="8061325" cy="207327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7F447CA-6B33-4ADA-8435-8EBFF51338A9}"/>
              </a:ext>
            </a:extLst>
          </p:cNvPr>
          <p:cNvSpPr txBox="1"/>
          <p:nvPr/>
        </p:nvSpPr>
        <p:spPr>
          <a:xfrm>
            <a:off x="286150" y="5588659"/>
            <a:ext cx="2258659" cy="769441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Les très petits échantillons de réponses sur lesquelles s’appuyer ne permettent pas d’estimer des variations pour les marques</a:t>
            </a:r>
          </a:p>
        </p:txBody>
      </p:sp>
    </p:spTree>
    <p:extLst>
      <p:ext uri="{BB962C8B-B14F-4D97-AF65-F5344CB8AC3E}">
        <p14:creationId xmlns:p14="http://schemas.microsoft.com/office/powerpoint/2010/main" val="2332363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/>
              <a:t>Le marché des baignoires balnéo en 2020 : </a:t>
            </a:r>
            <a:r>
              <a:rPr lang="fr-FR" sz="3200" b="1" dirty="0">
                <a:solidFill>
                  <a:srgbClr val="21989E"/>
                </a:solidFill>
              </a:rPr>
              <a:t>Les marques</a:t>
            </a:r>
            <a:endParaRPr lang="fr-FR" sz="3200" dirty="0">
              <a:solidFill>
                <a:srgbClr val="993366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4"/>
          </p:nvPr>
        </p:nvSpPr>
        <p:spPr>
          <a:xfrm>
            <a:off x="11691298" y="6540975"/>
            <a:ext cx="468000" cy="2775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38</a:t>
            </a:fld>
            <a:endParaRPr lang="fr-FR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28D28657-FA5C-4DB8-81F1-5913BC2F2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Le poids des types de marques </a:t>
            </a:r>
            <a:r>
              <a:rPr lang="fr-FR" u="sng" dirty="0"/>
              <a:t>en volume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186DD489-4D91-4209-8229-6BC51CEC1C5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65070" y="1785631"/>
            <a:ext cx="10248900" cy="20447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B0C44C7A-CE93-48BD-8D8C-D9FC4FDA601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952645" y="4353291"/>
            <a:ext cx="8061325" cy="207327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FD159B3-4A66-4228-8C44-F80DEDE8F2F6}"/>
              </a:ext>
            </a:extLst>
          </p:cNvPr>
          <p:cNvSpPr txBox="1"/>
          <p:nvPr/>
        </p:nvSpPr>
        <p:spPr>
          <a:xfrm>
            <a:off x="286150" y="5643001"/>
            <a:ext cx="2258659" cy="769441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00" i="1" dirty="0"/>
              <a:t>Les très petits échantillons de réponses sur lesquelles s’appuyer ne permettent pas d’estimer des variations pour les marques</a:t>
            </a:r>
          </a:p>
        </p:txBody>
      </p:sp>
    </p:spTree>
    <p:extLst>
      <p:ext uri="{BB962C8B-B14F-4D97-AF65-F5344CB8AC3E}">
        <p14:creationId xmlns:p14="http://schemas.microsoft.com/office/powerpoint/2010/main" val="43218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4A6F799-B864-4D03-81EB-7212F78B5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5- Le marché de la robinetterie sanitaire en 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14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marché de la robinetterie sanitaire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83010"/>
          </a:xfrm>
        </p:spPr>
        <p:txBody>
          <a:bodyPr>
            <a:normAutofit/>
          </a:bodyPr>
          <a:lstStyle/>
          <a:p>
            <a:r>
              <a:rPr lang="fr-FR" dirty="0"/>
              <a:t>Ensemble de la famille de produits</a:t>
            </a:r>
            <a:endParaRPr lang="fr-FR" b="0" dirty="0"/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A59256F3-DC13-4C4B-B34D-62A6D3C774FF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A8F15DA-2F95-47A9-9C93-42C288B608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9850" y="1647825"/>
            <a:ext cx="11456988" cy="112871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A13CA48-B068-41AA-AA9F-BECAFACAA56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381634" y="3068638"/>
            <a:ext cx="7535862" cy="3467100"/>
          </a:xfrm>
          <a:prstGeom prst="rect">
            <a:avLst/>
          </a:prstGeom>
        </p:spPr>
      </p:pic>
      <p:sp>
        <p:nvSpPr>
          <p:cNvPr id="11" name="Flèche : pentagone 10">
            <a:extLst>
              <a:ext uri="{FF2B5EF4-FFF2-40B4-BE49-F238E27FC236}">
                <a16:creationId xmlns:a16="http://schemas.microsoft.com/office/drawing/2014/main" id="{838FA6C5-97E0-4359-8954-5ED09C8EBDAA}"/>
              </a:ext>
            </a:extLst>
          </p:cNvPr>
          <p:cNvSpPr/>
          <p:nvPr/>
        </p:nvSpPr>
        <p:spPr>
          <a:xfrm>
            <a:off x="211028" y="3384651"/>
            <a:ext cx="2408904" cy="177254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Évolution de la variation annuelle par rapport à l’année précédente sur 4 ans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C9A7A78-02BC-4195-8FCD-BA5EEA3CF31E}"/>
              </a:ext>
            </a:extLst>
          </p:cNvPr>
          <p:cNvSpPr txBox="1"/>
          <p:nvPr/>
        </p:nvSpPr>
        <p:spPr>
          <a:xfrm>
            <a:off x="250722" y="5248914"/>
            <a:ext cx="1650588" cy="1569660"/>
          </a:xfrm>
          <a:prstGeom prst="rect">
            <a:avLst/>
          </a:prstGeom>
          <a:solidFill>
            <a:srgbClr val="FFCC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200" i="1" dirty="0"/>
              <a:t>Changements méthodologiques concernant les données 2019 et 2020 aboutissant à une rupture de la série de données du marché avec celles antérieures</a:t>
            </a:r>
          </a:p>
        </p:txBody>
      </p:sp>
    </p:spTree>
    <p:extLst>
      <p:ext uri="{BB962C8B-B14F-4D97-AF65-F5344CB8AC3E}">
        <p14:creationId xmlns:p14="http://schemas.microsoft.com/office/powerpoint/2010/main" val="3139734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marché de la robinetterie sanitaire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Répartition par catégorie de produits : volumes, valeurs et variations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6B254371-475E-461A-874A-F59BC33841B0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C513935-9062-4FC5-9559-77C3074BBCD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70901" y="1514418"/>
            <a:ext cx="9313463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83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marché de la robinetterie sanitaire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Poids des catégories de produits : volume et valeur </a:t>
            </a:r>
          </a:p>
        </p:txBody>
      </p: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97D26DC3-A0F7-4197-AA68-A314452165E2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795394E-3AA4-4787-B0E7-1314612A34C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50549" y="1598855"/>
            <a:ext cx="7094537" cy="513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8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marché de la robinetterie sanitaire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16077" y="1196753"/>
            <a:ext cx="9960443" cy="504056"/>
          </a:xfrm>
        </p:spPr>
        <p:txBody>
          <a:bodyPr>
            <a:normAutofit/>
          </a:bodyPr>
          <a:lstStyle/>
          <a:p>
            <a:r>
              <a:rPr lang="fr-FR" dirty="0"/>
              <a:t>Catégories émergentes dans la robinetterie sanitaire : couleur et électronique</a:t>
            </a:r>
          </a:p>
        </p:txBody>
      </p:sp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97D26DC3-A0F7-4197-AA68-A314452165E2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43401B9-63F6-4586-9995-83141F33DB2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16077" y="2171290"/>
            <a:ext cx="10210800" cy="2081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24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Le marché de la robinetterie sanitaire en 2020 : </a:t>
            </a:r>
            <a:br>
              <a:rPr lang="fr-FR" b="1" dirty="0"/>
            </a:br>
            <a:r>
              <a:rPr lang="fr-FR" b="1" dirty="0">
                <a:solidFill>
                  <a:srgbClr val="21989E"/>
                </a:solidFill>
              </a:rPr>
              <a:t>Les circuits de distribution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68934"/>
            <a:ext cx="9361040" cy="504056"/>
          </a:xfrm>
        </p:spPr>
        <p:txBody>
          <a:bodyPr/>
          <a:lstStyle/>
          <a:p>
            <a:r>
              <a:rPr lang="fr-FR" dirty="0"/>
              <a:t>Le poids des circuits de distribution </a:t>
            </a:r>
            <a:r>
              <a:rPr lang="fr-FR" u="sng" dirty="0"/>
              <a:t>en volume</a:t>
            </a:r>
            <a:endParaRPr lang="fr-FR" dirty="0"/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EE59EAD1-308F-4C49-BA6E-D68ED4184924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12ED16C-968B-4376-BB71-D5A4B54438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74897" y="1320975"/>
            <a:ext cx="6695478" cy="5220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F4BFC457-200E-4605-9F75-D93FA850374A}"/>
              </a:ext>
            </a:extLst>
          </p:cNvPr>
          <p:cNvSpPr txBox="1"/>
          <p:nvPr/>
        </p:nvSpPr>
        <p:spPr>
          <a:xfrm>
            <a:off x="499007" y="6358098"/>
            <a:ext cx="1660139" cy="26161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/>
              <a:t>n.s</a:t>
            </a:r>
            <a:r>
              <a:rPr lang="fr-FR" sz="1100" dirty="0"/>
              <a:t>. : non significatif </a:t>
            </a:r>
          </a:p>
        </p:txBody>
      </p:sp>
    </p:spTree>
    <p:extLst>
      <p:ext uri="{BB962C8B-B14F-4D97-AF65-F5344CB8AC3E}">
        <p14:creationId xmlns:p14="http://schemas.microsoft.com/office/powerpoint/2010/main" val="2295416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Le marché de la robinetterie sanitaire en 2020 : </a:t>
            </a:r>
            <a:br>
              <a:rPr lang="fr-FR" b="1" dirty="0"/>
            </a:br>
            <a:r>
              <a:rPr lang="fr-FR" b="1" dirty="0">
                <a:solidFill>
                  <a:srgbClr val="21989E"/>
                </a:solidFill>
              </a:rPr>
              <a:t>Les circuits de distribution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EE59EAD1-308F-4C49-BA6E-D68ED4184924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773AD303-E4B4-4288-BB77-A21984FC2324}"/>
              </a:ext>
            </a:extLst>
          </p:cNvPr>
          <p:cNvSpPr txBox="1">
            <a:spLocks/>
          </p:cNvSpPr>
          <p:nvPr/>
        </p:nvSpPr>
        <p:spPr>
          <a:xfrm>
            <a:off x="0" y="1036682"/>
            <a:ext cx="936104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Le poids des circuits de distribution </a:t>
            </a:r>
            <a:r>
              <a:rPr lang="fr-FR" u="sng" dirty="0"/>
              <a:t>en valeur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226C851-6198-420B-BF77-104BA8A6A23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61815" y="1288710"/>
            <a:ext cx="7047448" cy="5544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09ECB37-1163-407D-B92F-BBD7038DE8C8}"/>
              </a:ext>
            </a:extLst>
          </p:cNvPr>
          <p:cNvSpPr txBox="1"/>
          <p:nvPr/>
        </p:nvSpPr>
        <p:spPr>
          <a:xfrm>
            <a:off x="499007" y="6358098"/>
            <a:ext cx="1660139" cy="26161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/>
              <a:t>n.s</a:t>
            </a:r>
            <a:r>
              <a:rPr lang="fr-FR" sz="1100" dirty="0"/>
              <a:t>. : non significatif </a:t>
            </a:r>
          </a:p>
        </p:txBody>
      </p:sp>
    </p:spTree>
    <p:extLst>
      <p:ext uri="{BB962C8B-B14F-4D97-AF65-F5344CB8AC3E}">
        <p14:creationId xmlns:p14="http://schemas.microsoft.com/office/powerpoint/2010/main" val="165685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/>
              <a:t>Le marché de la robinetterie sanitaire en 2020 : </a:t>
            </a:r>
            <a:r>
              <a:rPr lang="fr-FR" sz="3200" b="1" dirty="0">
                <a:solidFill>
                  <a:srgbClr val="21989E"/>
                </a:solidFill>
              </a:rPr>
              <a:t>Les marques</a:t>
            </a:r>
            <a:endParaRPr lang="fr-FR" dirty="0">
              <a:solidFill>
                <a:schemeClr val="accent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Le poids des types de marques </a:t>
            </a:r>
            <a:r>
              <a:rPr lang="fr-FR" u="sng" dirty="0"/>
              <a:t>en volume</a:t>
            </a:r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dirty="0"/>
          </a:p>
          <a:p>
            <a:endParaRPr lang="fr-FR" u="sng" dirty="0"/>
          </a:p>
        </p:txBody>
      </p:sp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11B2EE3F-5321-4166-9B3F-13C06FBD4DD1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ED80B4E-E701-4079-BB16-1013C151C6B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531411" y="4660624"/>
            <a:ext cx="8572500" cy="165417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1D80F3B-79E8-461C-8485-D61B7F45024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5343" y="1608855"/>
            <a:ext cx="11664950" cy="226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25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/>
              <a:t>Le marché de la robinetterie sanitaire en 2020 : </a:t>
            </a:r>
            <a:r>
              <a:rPr lang="fr-FR" sz="3200" b="1" dirty="0">
                <a:solidFill>
                  <a:srgbClr val="21989E"/>
                </a:solidFill>
              </a:rPr>
              <a:t>Les marques</a:t>
            </a:r>
            <a:endParaRPr lang="fr-FR" sz="3200" dirty="0">
              <a:solidFill>
                <a:schemeClr val="accent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Le poids des types de marques </a:t>
            </a:r>
            <a:r>
              <a:rPr lang="fr-FR" u="sng" dirty="0"/>
              <a:t>en valeur</a:t>
            </a:r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dirty="0"/>
          </a:p>
          <a:p>
            <a:endParaRPr lang="fr-FR" u="sng" dirty="0"/>
          </a:p>
        </p:txBody>
      </p:sp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371858FF-315A-4993-940C-786DC3B477E2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A4FFC64-1C11-4F3B-B225-83AEBB67F6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0348" y="1700809"/>
            <a:ext cx="11664950" cy="211455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80A48848-E51C-46BD-BAF2-8BF39034AEB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806573" y="4698482"/>
            <a:ext cx="8572500" cy="168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993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C1050B6-51E2-41BF-B5CC-37A829ADF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6- Le marché des parois et portes de douche et pare-bains en 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8906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Le marché des parois de douche et pare-bains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>
            <a:normAutofit fontScale="92500"/>
          </a:bodyPr>
          <a:lstStyle/>
          <a:p>
            <a:r>
              <a:rPr lang="fr-FR" dirty="0"/>
              <a:t>Ensemble de la famille de produits des portes, parois de douche et pare-bains</a:t>
            </a:r>
          </a:p>
        </p:txBody>
      </p:sp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10613268-ED95-45AE-B82D-3688FB607AB9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210F844-1B2F-424B-B8E7-84C0392763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15480" y="1630613"/>
            <a:ext cx="9364662" cy="89852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81A1CE3-E730-45F0-8745-C2B2F8393A5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296368" y="2962998"/>
            <a:ext cx="7479546" cy="3771420"/>
          </a:xfrm>
          <a:prstGeom prst="rect">
            <a:avLst/>
          </a:prstGeom>
        </p:spPr>
      </p:pic>
      <p:sp>
        <p:nvSpPr>
          <p:cNvPr id="10" name="Flèche : pentagone 9">
            <a:extLst>
              <a:ext uri="{FF2B5EF4-FFF2-40B4-BE49-F238E27FC236}">
                <a16:creationId xmlns:a16="http://schemas.microsoft.com/office/drawing/2014/main" id="{39CE9E1E-0A2F-4DCB-9017-54FBD4DC345C}"/>
              </a:ext>
            </a:extLst>
          </p:cNvPr>
          <p:cNvSpPr/>
          <p:nvPr/>
        </p:nvSpPr>
        <p:spPr>
          <a:xfrm>
            <a:off x="211028" y="3384651"/>
            <a:ext cx="2408904" cy="177254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Évolution de la variation annuelle par rapport à l’année précédente sur 4 ans</a:t>
            </a:r>
          </a:p>
        </p:txBody>
      </p:sp>
    </p:spTree>
    <p:extLst>
      <p:ext uri="{BB962C8B-B14F-4D97-AF65-F5344CB8AC3E}">
        <p14:creationId xmlns:p14="http://schemas.microsoft.com/office/powerpoint/2010/main" val="2343184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Le marché des parois de douche et pare-bains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>
            <a:normAutofit fontScale="92500"/>
          </a:bodyPr>
          <a:lstStyle/>
          <a:p>
            <a:r>
              <a:rPr lang="fr-FR" dirty="0"/>
              <a:t>Ensemble de la famille de produits des portes, parois de douche et pare-bains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8D482925-2057-400B-88F3-89FB50E3F2C2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000A9BE-D1A1-4604-B5D1-43075A0DD97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7175" y="1849438"/>
            <a:ext cx="114808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495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Le marché des parois de douche et pare-bains en 2020 : </a:t>
            </a:r>
            <a:br>
              <a:rPr lang="fr-FR" b="1" dirty="0"/>
            </a:br>
            <a:r>
              <a:rPr lang="fr-FR" b="1" dirty="0">
                <a:solidFill>
                  <a:srgbClr val="21989E"/>
                </a:solidFill>
              </a:rPr>
              <a:t>Les circuits de distribution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08263"/>
            <a:ext cx="9361040" cy="504056"/>
          </a:xfrm>
        </p:spPr>
        <p:txBody>
          <a:bodyPr/>
          <a:lstStyle/>
          <a:p>
            <a:r>
              <a:rPr lang="fr-FR" dirty="0"/>
              <a:t>Le poids des circuits de distribution </a:t>
            </a:r>
            <a:r>
              <a:rPr lang="fr-FR" u="sng" dirty="0"/>
              <a:t>en volume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8A432574-6D72-4BDC-8EED-A747B436AC50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406A7A5-C6A1-4C59-8760-06B1D0E7A03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657721" y="1514418"/>
            <a:ext cx="6083746" cy="5220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4765D38-02C0-430D-A2FF-ED47358CBE8B}"/>
              </a:ext>
            </a:extLst>
          </p:cNvPr>
          <p:cNvSpPr txBox="1"/>
          <p:nvPr/>
        </p:nvSpPr>
        <p:spPr>
          <a:xfrm>
            <a:off x="499007" y="6358098"/>
            <a:ext cx="1660139" cy="26161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/>
              <a:t>n.s</a:t>
            </a:r>
            <a:r>
              <a:rPr lang="fr-FR" sz="1100" dirty="0"/>
              <a:t>. : non significatif </a:t>
            </a:r>
          </a:p>
        </p:txBody>
      </p:sp>
    </p:spTree>
    <p:extLst>
      <p:ext uri="{BB962C8B-B14F-4D97-AF65-F5344CB8AC3E}">
        <p14:creationId xmlns:p14="http://schemas.microsoft.com/office/powerpoint/2010/main" val="378110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Le marché des parois de douche et pare-bains en 2020 : </a:t>
            </a:r>
            <a:br>
              <a:rPr lang="fr-FR" b="1" dirty="0"/>
            </a:br>
            <a:r>
              <a:rPr lang="fr-FR" b="1" dirty="0">
                <a:solidFill>
                  <a:srgbClr val="21989E"/>
                </a:solidFill>
              </a:rPr>
              <a:t>Les circuits de distribution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8A432574-6D72-4BDC-8EED-A747B436AC50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62AA21FA-B5DF-4996-A153-21BB6FAF4033}"/>
              </a:ext>
            </a:extLst>
          </p:cNvPr>
          <p:cNvSpPr txBox="1">
            <a:spLocks/>
          </p:cNvSpPr>
          <p:nvPr/>
        </p:nvSpPr>
        <p:spPr>
          <a:xfrm>
            <a:off x="0" y="1124273"/>
            <a:ext cx="936104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b="1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545454"/>
                </a:solidFill>
                <a:latin typeface="+mj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Le poids des circuits de distribution </a:t>
            </a:r>
            <a:r>
              <a:rPr lang="fr-FR" u="sng" dirty="0"/>
              <a:t>en valeur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B8D5C66-4C97-41B9-A573-DC4085ED284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962502" y="1514418"/>
            <a:ext cx="6126305" cy="5220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CDE093B-FC3E-4103-8FBC-EEF8F2C6C714}"/>
              </a:ext>
            </a:extLst>
          </p:cNvPr>
          <p:cNvSpPr txBox="1"/>
          <p:nvPr/>
        </p:nvSpPr>
        <p:spPr>
          <a:xfrm>
            <a:off x="499007" y="6358098"/>
            <a:ext cx="1660139" cy="261610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00" dirty="0" err="1"/>
              <a:t>n.s</a:t>
            </a:r>
            <a:r>
              <a:rPr lang="fr-FR" sz="1100" dirty="0"/>
              <a:t>. : non significatif </a:t>
            </a:r>
          </a:p>
        </p:txBody>
      </p:sp>
    </p:spTree>
    <p:extLst>
      <p:ext uri="{BB962C8B-B14F-4D97-AF65-F5344CB8AC3E}">
        <p14:creationId xmlns:p14="http://schemas.microsoft.com/office/powerpoint/2010/main" val="23049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Le marché des parois de douche et pare-bains en 2020 : </a:t>
            </a:r>
            <a:r>
              <a:rPr lang="fr-FR" b="1" dirty="0">
                <a:solidFill>
                  <a:srgbClr val="21989E"/>
                </a:solidFill>
              </a:rPr>
              <a:t>Les marques</a:t>
            </a:r>
            <a:endParaRPr lang="fr-FR" dirty="0">
              <a:solidFill>
                <a:schemeClr val="accent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Le poids des types de marques </a:t>
            </a:r>
            <a:r>
              <a:rPr lang="fr-FR" u="sng" dirty="0"/>
              <a:t>en volume</a:t>
            </a:r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dirty="0"/>
          </a:p>
          <a:p>
            <a:endParaRPr lang="fr-FR" u="sng" dirty="0"/>
          </a:p>
        </p:txBody>
      </p:sp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11B2EE3F-5321-4166-9B3F-13C06FBD4DD1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C891C44-2372-459A-B548-50E2236050D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49275" y="1700808"/>
            <a:ext cx="10757822" cy="166156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260D61E-DA23-4E75-84B2-594F0641713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134636" y="4098329"/>
            <a:ext cx="7726363" cy="211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982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Le marché des parois de douche et pare-bains en 2020 : </a:t>
            </a:r>
            <a:r>
              <a:rPr lang="fr-FR" b="1" dirty="0">
                <a:solidFill>
                  <a:srgbClr val="21989E"/>
                </a:solidFill>
              </a:rPr>
              <a:t>Les marques</a:t>
            </a:r>
            <a:endParaRPr lang="fr-FR" dirty="0">
              <a:solidFill>
                <a:schemeClr val="accent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Le poids des types de marques </a:t>
            </a:r>
            <a:r>
              <a:rPr lang="fr-FR" u="sng" dirty="0"/>
              <a:t>en valeur</a:t>
            </a:r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dirty="0"/>
          </a:p>
          <a:p>
            <a:endParaRPr lang="fr-FR" u="sng" dirty="0"/>
          </a:p>
        </p:txBody>
      </p:sp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371858FF-315A-4993-940C-786DC3B477E2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04594F0-FFDA-4AE7-9B95-90473093D6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60784" y="1808163"/>
            <a:ext cx="11337605" cy="175111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3271928-8F01-4AA6-9B05-0B24662071B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134636" y="4219575"/>
            <a:ext cx="7726363" cy="207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6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C1050B6-51E2-41BF-B5CC-37A829ADF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7- Le marché des cabines de douche en 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0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/>
              <a:t>Le marché des cabines de douche en 2020 : </a:t>
            </a:r>
            <a:r>
              <a:rPr lang="fr-FR" sz="3200" b="1" dirty="0">
                <a:solidFill>
                  <a:srgbClr val="21989E"/>
                </a:solidFill>
              </a:rPr>
              <a:t>Les produits</a:t>
            </a:r>
            <a:endParaRPr lang="fr-FR" sz="3200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>
            <a:normAutofit/>
          </a:bodyPr>
          <a:lstStyle/>
          <a:p>
            <a:r>
              <a:rPr lang="fr-FR" dirty="0"/>
              <a:t>Ensemble de la famille des cabines de douche</a:t>
            </a:r>
          </a:p>
        </p:txBody>
      </p:sp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10613268-ED95-45AE-B82D-3688FB607AB9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10" name="Flèche : pentagone 9">
            <a:extLst>
              <a:ext uri="{FF2B5EF4-FFF2-40B4-BE49-F238E27FC236}">
                <a16:creationId xmlns:a16="http://schemas.microsoft.com/office/drawing/2014/main" id="{39CE9E1E-0A2F-4DCB-9017-54FBD4DC345C}"/>
              </a:ext>
            </a:extLst>
          </p:cNvPr>
          <p:cNvSpPr/>
          <p:nvPr/>
        </p:nvSpPr>
        <p:spPr>
          <a:xfrm>
            <a:off x="211028" y="3384651"/>
            <a:ext cx="2408904" cy="177254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Évolution de la variation annuelle par rapport à l’année précédente sur 4 ans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579578C-C134-49DD-9620-AB48602EAF3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88768" y="1666987"/>
            <a:ext cx="10144515" cy="94839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F80293A-A817-4E16-B356-4BDDAF37817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970828" y="2683349"/>
            <a:ext cx="7507287" cy="399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031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/>
              <a:t>Le marché des cabines de douche en 2020 : </a:t>
            </a:r>
            <a:r>
              <a:rPr lang="fr-FR" sz="3200" b="1" dirty="0">
                <a:solidFill>
                  <a:srgbClr val="21989E"/>
                </a:solidFill>
              </a:rPr>
              <a:t>Les produits</a:t>
            </a:r>
            <a:endParaRPr lang="fr-FR" sz="3200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>
            <a:normAutofit/>
          </a:bodyPr>
          <a:lstStyle/>
          <a:p>
            <a:r>
              <a:rPr lang="fr-FR" dirty="0"/>
              <a:t>Ensemble de la famille des cabines de douches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8D482925-2057-400B-88F3-89FB50E3F2C2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753A8F8-3B30-4292-9F7A-C226458B65B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11789" y="2079876"/>
            <a:ext cx="10584886" cy="2275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57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b="1" dirty="0"/>
              <a:t>Le marché des cabines de douche </a:t>
            </a:r>
            <a:r>
              <a:rPr lang="fr-FR" b="1" dirty="0"/>
              <a:t>en 2020 : </a:t>
            </a:r>
            <a:br>
              <a:rPr lang="fr-FR" b="1" dirty="0"/>
            </a:br>
            <a:r>
              <a:rPr lang="fr-FR" b="1" dirty="0">
                <a:solidFill>
                  <a:srgbClr val="21989E"/>
                </a:solidFill>
              </a:rPr>
              <a:t>Les circuits de distribution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51182"/>
            <a:ext cx="9361040" cy="504056"/>
          </a:xfrm>
        </p:spPr>
        <p:txBody>
          <a:bodyPr/>
          <a:lstStyle/>
          <a:p>
            <a:r>
              <a:rPr lang="fr-FR" dirty="0"/>
              <a:t>Le poids des circuits de distribution </a:t>
            </a:r>
            <a:r>
              <a:rPr lang="fr-FR" u="sng" dirty="0"/>
              <a:t>en volume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8A432574-6D72-4BDC-8EED-A747B436AC50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5225D66-FF52-4EAE-9340-C434845DE3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386919" y="1514418"/>
            <a:ext cx="5425121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555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b="1" dirty="0"/>
              <a:t>Le marché des cabines de douche </a:t>
            </a:r>
            <a:r>
              <a:rPr lang="fr-FR" b="1" dirty="0"/>
              <a:t>en 2020 : </a:t>
            </a:r>
            <a:br>
              <a:rPr lang="fr-FR" b="1" dirty="0"/>
            </a:br>
            <a:r>
              <a:rPr lang="fr-FR" b="1" dirty="0">
                <a:solidFill>
                  <a:srgbClr val="21989E"/>
                </a:solidFill>
              </a:rPr>
              <a:t>Les circuits de distribution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3921" y="1108262"/>
            <a:ext cx="9361040" cy="504056"/>
          </a:xfrm>
        </p:spPr>
        <p:txBody>
          <a:bodyPr/>
          <a:lstStyle/>
          <a:p>
            <a:r>
              <a:rPr lang="fr-FR" dirty="0"/>
              <a:t>Le poids des circuits de distribution </a:t>
            </a:r>
            <a:r>
              <a:rPr lang="fr-FR" u="sng" dirty="0"/>
              <a:t>en valeur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8A432574-6D72-4BDC-8EED-A747B436AC50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59</a:t>
            </a:fld>
            <a:endParaRPr lang="en-US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5668B97-78FE-450C-A6EB-EC3E5293D3D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055512" y="1459774"/>
            <a:ext cx="5425121" cy="52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80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/>
              <a:t>Le marché des cabines de douche en 2020 : </a:t>
            </a:r>
            <a:r>
              <a:rPr lang="fr-FR" sz="3200" b="1" dirty="0">
                <a:solidFill>
                  <a:srgbClr val="21989E"/>
                </a:solidFill>
              </a:rPr>
              <a:t>Les marques</a:t>
            </a:r>
            <a:endParaRPr lang="fr-FR" sz="3200" dirty="0">
              <a:solidFill>
                <a:schemeClr val="accent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Le poids des types de marques </a:t>
            </a:r>
            <a:r>
              <a:rPr lang="fr-FR" u="sng" dirty="0"/>
              <a:t>en volume</a:t>
            </a:r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dirty="0"/>
          </a:p>
          <a:p>
            <a:endParaRPr lang="fr-FR" u="sng" dirty="0"/>
          </a:p>
        </p:txBody>
      </p:sp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11B2EE3F-5321-4166-9B3F-13C06FBD4DD1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60</a:t>
            </a:fld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A06449A-6E85-4C5D-BA60-62E9E1995B8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98743" y="1771650"/>
            <a:ext cx="10598150" cy="165735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5D54F7C-6416-41DA-AD8B-A7E4FE2E0EE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35339" y="3842066"/>
            <a:ext cx="5707444" cy="181918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A40AEA2-1A49-4398-9462-5DA15FCEC93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94895" y="3941079"/>
            <a:ext cx="5486473" cy="172016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7883727-95B0-4202-947E-724028C98810}"/>
              </a:ext>
            </a:extLst>
          </p:cNvPr>
          <p:cNvSpPr txBox="1"/>
          <p:nvPr/>
        </p:nvSpPr>
        <p:spPr>
          <a:xfrm>
            <a:off x="294895" y="6077015"/>
            <a:ext cx="3333208" cy="600164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00" i="1" dirty="0"/>
              <a:t>Les très petits échantillons de réponses sur lesquelles s’appuyer ne permettent pas d’estimer des variations pour les marques dans les réseaux grand public</a:t>
            </a:r>
          </a:p>
        </p:txBody>
      </p:sp>
    </p:spTree>
    <p:extLst>
      <p:ext uri="{BB962C8B-B14F-4D97-AF65-F5344CB8AC3E}">
        <p14:creationId xmlns:p14="http://schemas.microsoft.com/office/powerpoint/2010/main" val="2299355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/>
              <a:t>Le marché des cabines de douche en 2020 : </a:t>
            </a:r>
            <a:r>
              <a:rPr lang="fr-FR" sz="3200" b="1" dirty="0">
                <a:solidFill>
                  <a:srgbClr val="21989E"/>
                </a:solidFill>
              </a:rPr>
              <a:t>Les marques</a:t>
            </a:r>
            <a:endParaRPr lang="fr-FR" sz="3200" dirty="0">
              <a:solidFill>
                <a:schemeClr val="accent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Le poids des types de marques </a:t>
            </a:r>
            <a:r>
              <a:rPr lang="fr-FR" u="sng" dirty="0"/>
              <a:t>en valeur</a:t>
            </a:r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u="sng" dirty="0"/>
          </a:p>
          <a:p>
            <a:endParaRPr lang="fr-FR" dirty="0"/>
          </a:p>
          <a:p>
            <a:endParaRPr lang="fr-FR" u="sng" dirty="0"/>
          </a:p>
        </p:txBody>
      </p:sp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371858FF-315A-4993-940C-786DC3B477E2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61</a:t>
            </a:fld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71366C3-7824-4018-9A7F-E7CBD58536E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32179" y="1759131"/>
            <a:ext cx="11236418" cy="175716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38944C1-9B24-49FF-9F2B-4155A6B5A69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255725" y="3991897"/>
            <a:ext cx="5512872" cy="196441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31338EC3-217B-4A45-9952-3A382751D9B6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06807" y="4109884"/>
            <a:ext cx="5889193" cy="184643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F6E1ED1-3EE7-4CB0-A8A3-51D8ACE8B86E}"/>
              </a:ext>
            </a:extLst>
          </p:cNvPr>
          <p:cNvSpPr txBox="1"/>
          <p:nvPr/>
        </p:nvSpPr>
        <p:spPr>
          <a:xfrm>
            <a:off x="294895" y="6077015"/>
            <a:ext cx="3333208" cy="600164"/>
          </a:xfrm>
          <a:prstGeom prst="rect">
            <a:avLst/>
          </a:prstGeom>
          <a:noFill/>
          <a:ln>
            <a:solidFill>
              <a:schemeClr val="accent1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1100" i="1" dirty="0"/>
              <a:t>Les très petits échantillons de réponses sur lesquelles s’appuyer ne permettent pas d’estimer des variations pour les marques dans les réseaux grand public</a:t>
            </a:r>
          </a:p>
        </p:txBody>
      </p:sp>
    </p:spTree>
    <p:extLst>
      <p:ext uri="{BB962C8B-B14F-4D97-AF65-F5344CB8AC3E}">
        <p14:creationId xmlns:p14="http://schemas.microsoft.com/office/powerpoint/2010/main" val="403074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96BC956-582D-4CF5-A58A-9D37F2CBD6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8-Le marché des meubles de salle de bains en 2020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05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marché des meubles de salle de bains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Ensemble de la famille de produits</a:t>
            </a:r>
          </a:p>
        </p:txBody>
      </p:sp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04E1D431-8CD4-447F-82D2-5B6ACDB253FD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11" name="Flèche : pentagone 10">
            <a:extLst>
              <a:ext uri="{FF2B5EF4-FFF2-40B4-BE49-F238E27FC236}">
                <a16:creationId xmlns:a16="http://schemas.microsoft.com/office/drawing/2014/main" id="{FDC02410-5CFC-4A6F-B753-23C1973EB5F2}"/>
              </a:ext>
            </a:extLst>
          </p:cNvPr>
          <p:cNvSpPr/>
          <p:nvPr/>
        </p:nvSpPr>
        <p:spPr>
          <a:xfrm>
            <a:off x="211028" y="3384651"/>
            <a:ext cx="2408904" cy="177254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Évolution de la variation annuelle par rapport à l’année précédente sur 4 ans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D1C98CB-98F6-4679-A960-AB55232F37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656034" y="1600400"/>
            <a:ext cx="7218209" cy="112017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0F69E1C-8510-4855-9CC3-79B3802F55F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442213" y="2914804"/>
            <a:ext cx="6999645" cy="382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31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Le marché des meubles de salle de bains en 2020 : </a:t>
            </a:r>
            <a:r>
              <a:rPr lang="fr-FR" b="1" dirty="0">
                <a:solidFill>
                  <a:srgbClr val="21989E"/>
                </a:solidFill>
              </a:rPr>
              <a:t>Les produits</a:t>
            </a:r>
            <a:endParaRPr lang="fr-FR" dirty="0">
              <a:solidFill>
                <a:srgbClr val="993366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Ensemble de la famille de produits</a:t>
            </a:r>
          </a:p>
        </p:txBody>
      </p:sp>
      <p:sp>
        <p:nvSpPr>
          <p:cNvPr id="9" name="Espace réservé du numéro de diapositive 3">
            <a:extLst>
              <a:ext uri="{FF2B5EF4-FFF2-40B4-BE49-F238E27FC236}">
                <a16:creationId xmlns:a16="http://schemas.microsoft.com/office/drawing/2014/main" id="{04E1D431-8CD4-447F-82D2-5B6ACDB253FD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8" name="Flèche : virage 7">
            <a:extLst>
              <a:ext uri="{FF2B5EF4-FFF2-40B4-BE49-F238E27FC236}">
                <a16:creationId xmlns:a16="http://schemas.microsoft.com/office/drawing/2014/main" id="{9DCC8E65-D295-4748-BA59-64B66B5D0873}"/>
              </a:ext>
            </a:extLst>
          </p:cNvPr>
          <p:cNvSpPr/>
          <p:nvPr/>
        </p:nvSpPr>
        <p:spPr>
          <a:xfrm flipV="1">
            <a:off x="4572000" y="4060721"/>
            <a:ext cx="1524000" cy="1600525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Flèche : pentagone 9">
            <a:extLst>
              <a:ext uri="{FF2B5EF4-FFF2-40B4-BE49-F238E27FC236}">
                <a16:creationId xmlns:a16="http://schemas.microsoft.com/office/drawing/2014/main" id="{8E2D13FB-1B27-4A63-896A-0F86B05CA44E}"/>
              </a:ext>
            </a:extLst>
          </p:cNvPr>
          <p:cNvSpPr/>
          <p:nvPr/>
        </p:nvSpPr>
        <p:spPr>
          <a:xfrm>
            <a:off x="1213918" y="4060721"/>
            <a:ext cx="2408904" cy="1772540"/>
          </a:xfrm>
          <a:prstGeom prst="homePlate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</a:rPr>
              <a:t>Poids des catégories de meubles de salle de bains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D73AC84-712B-46D9-9BE0-1B4CD264A9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268948" y="1624022"/>
            <a:ext cx="7145428" cy="206307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C8E4E1F-467A-47E5-927C-65DD397358A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504039" y="3797775"/>
            <a:ext cx="45720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2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098430"/>
            <a:ext cx="9361040" cy="504056"/>
          </a:xfrm>
        </p:spPr>
        <p:txBody>
          <a:bodyPr/>
          <a:lstStyle/>
          <a:p>
            <a:r>
              <a:rPr lang="fr-FR" dirty="0"/>
              <a:t>Le poids des circuits de distribution </a:t>
            </a:r>
            <a:r>
              <a:rPr lang="fr-FR" u="sng" dirty="0"/>
              <a:t>en valeur 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06829DBF-27E5-4942-8C64-59FE94C2AE84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EE5E5245-F29A-4B31-BFBA-E0304F5D6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Le marché des meubles de salle de bains en 2020 : </a:t>
            </a:r>
            <a:br>
              <a:rPr lang="fr-FR" b="1" dirty="0"/>
            </a:br>
            <a:r>
              <a:rPr lang="fr-FR" b="1" dirty="0">
                <a:solidFill>
                  <a:srgbClr val="21989E"/>
                </a:solidFill>
              </a:rPr>
              <a:t>Les circuits de distribution</a:t>
            </a:r>
            <a:endParaRPr lang="en-US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95EE2B4-890A-46AC-B5AD-E0805BF34BC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033172" y="1478418"/>
            <a:ext cx="5445765" cy="52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63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15480" y="1196753"/>
            <a:ext cx="9361040" cy="504056"/>
          </a:xfrm>
        </p:spPr>
        <p:txBody>
          <a:bodyPr/>
          <a:lstStyle/>
          <a:p>
            <a:r>
              <a:rPr lang="fr-FR" dirty="0"/>
              <a:t>Le poids des circuits de distribution </a:t>
            </a:r>
            <a:r>
              <a:rPr lang="fr-FR" u="sng" dirty="0"/>
              <a:t>en valeur 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06829DBF-27E5-4942-8C64-59FE94C2AE84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9" name="Titre 8">
            <a:extLst>
              <a:ext uri="{FF2B5EF4-FFF2-40B4-BE49-F238E27FC236}">
                <a16:creationId xmlns:a16="http://schemas.microsoft.com/office/drawing/2014/main" id="{EE5E5245-F29A-4B31-BFBA-E0304F5D6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Le marché des meubles de salle de bains en 2020 : </a:t>
            </a:r>
            <a:br>
              <a:rPr lang="fr-FR" b="1" dirty="0"/>
            </a:br>
            <a:r>
              <a:rPr lang="fr-FR" b="1" dirty="0">
                <a:solidFill>
                  <a:srgbClr val="21989E"/>
                </a:solidFill>
              </a:rPr>
              <a:t>Les marques</a:t>
            </a:r>
            <a:endParaRPr lang="en-US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49D27C3-B6DE-40C2-9D73-3F949C2C494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27763" y="2159000"/>
            <a:ext cx="5646737" cy="15621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9DDDEC1E-A392-4AF0-891E-EA43C8F1FA1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38802" y="1704053"/>
            <a:ext cx="11105945" cy="175683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488BC23-2018-4079-916E-66433BEA41CA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466464" y="4178710"/>
            <a:ext cx="6673657" cy="225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77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120DAC6-43D5-4270-835F-327A49034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SYNTHESE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4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15348B-3724-49F6-B865-26E12A5AF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Synthèse 2020 par familles de produits : </a:t>
            </a:r>
            <a:br>
              <a:rPr lang="fr-FR" b="1" dirty="0"/>
            </a:br>
            <a:r>
              <a:rPr lang="fr-FR" b="1" dirty="0">
                <a:solidFill>
                  <a:srgbClr val="21989E"/>
                </a:solidFill>
              </a:rPr>
              <a:t>Valeurs, variations valeur et variations volume</a:t>
            </a:r>
            <a:endParaRPr lang="en-US" b="1" dirty="0">
              <a:solidFill>
                <a:srgbClr val="21989E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C7D2D01-702D-4A00-9B99-27BE71DAD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0D0662E-DD8F-6B4B-B989-FE9D2C9FAAE7}" type="slidenum">
              <a:rPr lang="fr-FR" smtClean="0"/>
              <a:pPr algn="ctr"/>
              <a:t>68</a:t>
            </a:fld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329CFC1-4A21-434D-BD99-AFB8514D6E2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21556" y="1688896"/>
            <a:ext cx="10497039" cy="409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664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9807D2-B3DC-4F86-A997-B29ADF429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Synthèse 2020 poids des circuits de distribution</a:t>
            </a:r>
            <a:endParaRPr lang="en-US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A369DD7-1D8B-4313-82D2-160DD3ADA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Poids des réseaux de distribution dans l’ensemble des marchés de la salle de bains</a:t>
            </a:r>
            <a:endParaRPr lang="en-US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55F336F-968A-455D-9991-1770BA0BB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0D0662E-DD8F-6B4B-B989-FE9D2C9FAAE7}" type="slidenum">
              <a:rPr lang="fr-FR" smtClean="0"/>
              <a:pPr algn="ctr"/>
              <a:t>69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B42313E-8C93-405D-A99D-B5D3DAE769B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98523" y="2135968"/>
            <a:ext cx="8482984" cy="257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4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CB7914AE-2189-4DBF-B2D7-A4277740C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ANNEXES</a:t>
            </a:r>
          </a:p>
        </p:txBody>
      </p:sp>
    </p:spTree>
    <p:extLst>
      <p:ext uri="{BB962C8B-B14F-4D97-AF65-F5344CB8AC3E}">
        <p14:creationId xmlns:p14="http://schemas.microsoft.com/office/powerpoint/2010/main" val="2983516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b="1" dirty="0"/>
              <a:t>Annexe 1 : familles de produits utilisées pour collecter des donnée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La nomenclature des familles de produits utilisée pour l'étude de marché 2020</a:t>
            </a:r>
          </a:p>
        </p:txBody>
      </p:sp>
      <p:sp>
        <p:nvSpPr>
          <p:cNvPr id="17" name="Espace réservé du numéro de diapositive 3">
            <a:extLst>
              <a:ext uri="{FF2B5EF4-FFF2-40B4-BE49-F238E27FC236}">
                <a16:creationId xmlns:a16="http://schemas.microsoft.com/office/drawing/2014/main" id="{A6CA8A05-FCD0-49A4-BBA8-C51C503F9BC8}"/>
              </a:ext>
            </a:extLst>
          </p:cNvPr>
          <p:cNvSpPr txBox="1">
            <a:spLocks/>
          </p:cNvSpPr>
          <p:nvPr/>
        </p:nvSpPr>
        <p:spPr>
          <a:xfrm>
            <a:off x="11708782" y="6540975"/>
            <a:ext cx="468000" cy="277599"/>
          </a:xfrm>
          <a:prstGeom prst="rect">
            <a:avLst/>
          </a:prstGeom>
          <a:solidFill>
            <a:srgbClr val="54545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vert="horz" lIns="107265" tIns="53633" rIns="107265" bIns="53633" anchor="ctr" anchorCtr="0">
            <a:spAutoFit/>
          </a:bodyPr>
          <a:lstStyle>
            <a:defPPr>
              <a:defRPr lang="fr-FR"/>
            </a:defPPr>
            <a:lvl1pPr marL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lang="fr-FR" sz="1100" b="1" kern="120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143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284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427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569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5711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2853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199996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138" algn="l" defTabSz="914284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fld id="{031C9ED9-6E8B-6E45-A2CD-8D094BAE0C89}" type="slidenum">
              <a:rPr lang="en-US" smtClean="0"/>
              <a:pPr/>
              <a:t>71</a:t>
            </a:fld>
            <a:endParaRPr lang="en-US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046C1D8-B2FF-4FE1-B1C6-9D98F1FF71F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39200" y="1671664"/>
            <a:ext cx="4980066" cy="486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24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1894</Words>
  <Application>Microsoft Office PowerPoint</Application>
  <PresentationFormat>Grand écran</PresentationFormat>
  <Paragraphs>315</Paragraphs>
  <Slides>71</Slides>
  <Notes>2</Notes>
  <HiddenSlides>0</HiddenSlides>
  <MMClips>0</MMClips>
  <ScaleCrop>false</ScaleCrop>
  <HeadingPairs>
    <vt:vector size="8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71</vt:i4>
      </vt:variant>
    </vt:vector>
  </HeadingPairs>
  <TitlesOfParts>
    <vt:vector size="77" baseType="lpstr">
      <vt:lpstr>Arial</vt:lpstr>
      <vt:lpstr>Calibri</vt:lpstr>
      <vt:lpstr>Calibri Light</vt:lpstr>
      <vt:lpstr>Wingdings</vt:lpstr>
      <vt:lpstr>Thème Office</vt:lpstr>
      <vt:lpstr>Binary Worksheet</vt:lpstr>
      <vt:lpstr>Etude de marché annuel : année 2020 </vt:lpstr>
      <vt:lpstr>Sommaire</vt:lpstr>
      <vt:lpstr>Méthodologie</vt:lpstr>
      <vt:lpstr>Présentation PowerPoint</vt:lpstr>
      <vt:lpstr>Le marché des pièces céramiques en 2020 : Les produits</vt:lpstr>
      <vt:lpstr>Le marché des pièces céramiques en 2020 : Les produits</vt:lpstr>
      <vt:lpstr>Le marché des pièces céramiques en 2020 : Les produits</vt:lpstr>
      <vt:lpstr>Le marché des pièces céramiques en 2020 : Les produits</vt:lpstr>
      <vt:lpstr>Le marché des pièces céramiques en 2020 : Les produits</vt:lpstr>
      <vt:lpstr>Le marché des pièces céramiques en 2020 : Les produits</vt:lpstr>
      <vt:lpstr>Le marché des pièces céramiques en 2020 : Les produits</vt:lpstr>
      <vt:lpstr>Le marché des pièces céramiques en 2020 : Les produits</vt:lpstr>
      <vt:lpstr>Le marché des pièces céramiques en 2020 : Les produits</vt:lpstr>
      <vt:lpstr>Le marché des pièces céramiques en 2020 :  Les circuits de distribution</vt:lpstr>
      <vt:lpstr>Le marché des pièces céramiques en 2020 :  Les circuits de distribution</vt:lpstr>
      <vt:lpstr>Le marché des pièces céramiques en 2020 :  Les marques</vt:lpstr>
      <vt:lpstr>Le marché des pièces céramiques en 2020 :  Les marques</vt:lpstr>
      <vt:lpstr>Présentation PowerPoint</vt:lpstr>
      <vt:lpstr>Le marché des receveurs en 2020 : Les produits</vt:lpstr>
      <vt:lpstr>Le marché des receveurs en 2020 : Les produits</vt:lpstr>
      <vt:lpstr>Le marché des receveurs en 2020 : Les circuits de distribution</vt:lpstr>
      <vt:lpstr>Le marché des receveurs en 2020 : Les circuits de distribution</vt:lpstr>
      <vt:lpstr>Le marché des receveurs en 2020 : Les marques</vt:lpstr>
      <vt:lpstr>Le marché des receveurs en 2020 : Les marques</vt:lpstr>
      <vt:lpstr>Présentation PowerPoint</vt:lpstr>
      <vt:lpstr>Le marché des baignoires nues en 2020 : Les produits</vt:lpstr>
      <vt:lpstr>Le marché des baignoires nues en 2020 : Les produits</vt:lpstr>
      <vt:lpstr>Le marché des baignoires nues en 2020 :  Les circuits de distribution</vt:lpstr>
      <vt:lpstr>Le marché des baignoires nues en 2020 :  Les circuits de distribution</vt:lpstr>
      <vt:lpstr>Le marché des baignoires nues en 2020 : Les marques</vt:lpstr>
      <vt:lpstr>Le marché des baignoires nues en 2020 : Les marques</vt:lpstr>
      <vt:lpstr>Présentation PowerPoint</vt:lpstr>
      <vt:lpstr>Le marché des baignoires balnéo en 2020 : Les produits</vt:lpstr>
      <vt:lpstr>Le marché des baignoires balnéo en 2020 : Les produits</vt:lpstr>
      <vt:lpstr>Le marché des baignoires balnéo en 2020 : Les circuits de distribution</vt:lpstr>
      <vt:lpstr>Le marché des baignoires balnéo en 2020 : Les circuits de distribution</vt:lpstr>
      <vt:lpstr>Le marché des baignoires balnéo en 2020 : Les marques</vt:lpstr>
      <vt:lpstr>Le marché des baignoires balnéo en 2020 : Les marques</vt:lpstr>
      <vt:lpstr>Présentation PowerPoint</vt:lpstr>
      <vt:lpstr>Le marché de la robinetterie sanitaire en 2020 : Les produits</vt:lpstr>
      <vt:lpstr>Le marché de la robinetterie sanitaire en 2020 : Les produits</vt:lpstr>
      <vt:lpstr>Le marché de la robinetterie sanitaire en 2020 : Les produits</vt:lpstr>
      <vt:lpstr>Le marché de la robinetterie sanitaire en 2020 : Les produits</vt:lpstr>
      <vt:lpstr>Le marché de la robinetterie sanitaire en 2020 :  Les circuits de distribution</vt:lpstr>
      <vt:lpstr>Le marché de la robinetterie sanitaire en 2020 :  Les circuits de distribution</vt:lpstr>
      <vt:lpstr>Le marché de la robinetterie sanitaire en 2020 : Les marques</vt:lpstr>
      <vt:lpstr>Le marché de la robinetterie sanitaire en 2020 : Les marques</vt:lpstr>
      <vt:lpstr>Présentation PowerPoint</vt:lpstr>
      <vt:lpstr>Le marché des parois de douche et pare-bains en 2020 : Les produits</vt:lpstr>
      <vt:lpstr>Le marché des parois de douche et pare-bains en 2020 : Les produits</vt:lpstr>
      <vt:lpstr>Le marché des parois de douche et pare-bains en 2020 :  Les circuits de distribution</vt:lpstr>
      <vt:lpstr>Le marché des parois de douche et pare-bains en 2020 :  Les circuits de distribution</vt:lpstr>
      <vt:lpstr>Le marché des parois de douche et pare-bains en 2020 : Les marques</vt:lpstr>
      <vt:lpstr>Le marché des parois de douche et pare-bains en 2020 : Les marques</vt:lpstr>
      <vt:lpstr>Présentation PowerPoint</vt:lpstr>
      <vt:lpstr>Le marché des cabines de douche en 2020 : Les produits</vt:lpstr>
      <vt:lpstr>Le marché des cabines de douche en 2020 : Les produits</vt:lpstr>
      <vt:lpstr>Le marché des cabines de douche en 2020 :  Les circuits de distribution</vt:lpstr>
      <vt:lpstr>Le marché des cabines de douche en 2020 :  Les circuits de distribution</vt:lpstr>
      <vt:lpstr>Le marché des cabines de douche en 2020 : Les marques</vt:lpstr>
      <vt:lpstr>Le marché des cabines de douche en 2020 : Les marques</vt:lpstr>
      <vt:lpstr>Présentation PowerPoint</vt:lpstr>
      <vt:lpstr>Le marché des meubles de salle de bains en 2020 : Les produits</vt:lpstr>
      <vt:lpstr>Le marché des meubles de salle de bains en 2020 : Les produits</vt:lpstr>
      <vt:lpstr>Le marché des meubles de salle de bains en 2020 :  Les circuits de distribution</vt:lpstr>
      <vt:lpstr>Le marché des meubles de salle de bains en 2020 :  Les marques</vt:lpstr>
      <vt:lpstr>Présentation PowerPoint</vt:lpstr>
      <vt:lpstr>Synthèse 2020 par familles de produits :  Valeurs, variations valeur et variations volume</vt:lpstr>
      <vt:lpstr>Synthèse 2020 poids des circuits de distribution</vt:lpstr>
      <vt:lpstr>Présentation PowerPoint</vt:lpstr>
      <vt:lpstr>Annexe 1 : familles de produits utilisées pour collecter des donnée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Jean-Marie THIEBAUT</dc:creator>
  <cp:lastModifiedBy>Jean-Marie THIEBAUT</cp:lastModifiedBy>
  <cp:revision>564</cp:revision>
  <cp:lastPrinted>2021-05-03T15:18:58Z</cp:lastPrinted>
  <dcterms:created xsi:type="dcterms:W3CDTF">2020-05-13T13:08:19Z</dcterms:created>
  <dcterms:modified xsi:type="dcterms:W3CDTF">2021-05-15T15:49:15Z</dcterms:modified>
</cp:coreProperties>
</file>